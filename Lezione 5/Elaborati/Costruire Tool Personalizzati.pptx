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8552c63e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8552c63e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e29450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8e29450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8e29450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8e29450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e29450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e29450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8e294508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8e294508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e294508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8e294508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Costruire Tool Personalizzati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GRUPPO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                    STEFANO, ANNA E LORENZO 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Obiettivi GRUPPO B :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Costruzione di 3 tool reali per il chatbot WiData: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Tool Calcolatrice sicura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Tool Meteo in tempo reale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Tool Wikipedia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 Integrazione dei tool personalizzati in un chatbot multi-tool.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struttura di un tool — i 3 campi con il vostro esempio migliore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Validazione dell'input — il test di sicurezza della calcolatrice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Tool meteo in azione — demo live con temperatura reale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Tool concatenati — domanda che usa RAG + calcolatrice insieme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vostra guida pratica — quando usare RAG vs tool per rispondere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200"/>
              <a:t>La struttura di un Tool - Il nostro esempio con i 3 campi</a:t>
            </a:r>
            <a:endParaRPr sz="2200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Cosa è un Tool?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900">
                <a:latin typeface="Oswald"/>
                <a:ea typeface="Oswald"/>
                <a:cs typeface="Oswald"/>
                <a:sym typeface="Oswald"/>
              </a:rPr>
              <a:t>Un Tool </a:t>
            </a:r>
            <a:r>
              <a:rPr lang="it" sz="1900">
                <a:latin typeface="Oswald"/>
                <a:ea typeface="Oswald"/>
                <a:cs typeface="Oswald"/>
                <a:sym typeface="Oswald"/>
              </a:rPr>
              <a:t>è un'estensione delle capacità del modello AI, è una funzione esterna che il modello può decidere di chiamare quando non riesce a rispondere da solo ad una richiesta dell’utente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9" name="Google Shape;79;p16" title="carb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25" y="2524575"/>
            <a:ext cx="6907798" cy="23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800"/>
              <a:t>Validazione dell'input — Il test di sicurezza della calcolatrice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La validazione </a:t>
            </a: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dell'input</a:t>
            </a: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è applicata dentro la funzione </a:t>
            </a:r>
            <a:r>
              <a:rPr lang="it" sz="16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def_calcola()</a:t>
            </a:r>
            <a:r>
              <a:rPr lang="it" sz="1600">
                <a:solidFill>
                  <a:srgbClr val="0000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 particolare nella </a:t>
            </a: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whitelist  cioè la lista dei caratteri ammessi. Prima ancora di toccare </a:t>
            </a:r>
            <a:r>
              <a:rPr lang="it" sz="16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eval()</a:t>
            </a: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la funzione controlla ogni carattere dell'espressione ricevuta. 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 anche solo uno non è nella lista, si blocca e ritorna l'errore. 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6" name="Google Shape;86;p17" title="carb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64400"/>
            <a:ext cx="4413201" cy="21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carbo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100" y="2784588"/>
            <a:ext cx="4158791" cy="14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800"/>
              <a:t>Tool meteo in azione — Demo live con temperatura reale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3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CITTA’ COORD</a:t>
            </a:r>
            <a:r>
              <a:rPr lang="it" sz="1500">
                <a:latin typeface="Oswald"/>
                <a:ea typeface="Oswald"/>
                <a:cs typeface="Oswald"/>
                <a:sym typeface="Oswald"/>
              </a:rPr>
              <a:t>: 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è un dizionario Python che contiene lan/long di una serie di città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387">
                <a:solidFill>
                  <a:srgbClr val="00FFFF"/>
                </a:solidFill>
                <a:latin typeface="Oswald"/>
                <a:ea typeface="Oswald"/>
                <a:cs typeface="Oswald"/>
                <a:sym typeface="Oswald"/>
              </a:rPr>
              <a:t>tool_meteo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: 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è un dizionario JSON che viene passato all'API di Claude. Quando Claude lo riceve, sa che esiste una funzione chiamata</a:t>
            </a:r>
            <a:r>
              <a:rPr lang="it" sz="2387">
                <a:solidFill>
                  <a:srgbClr val="00FFFF"/>
                </a:solidFill>
                <a:latin typeface="Oswald"/>
                <a:ea typeface="Oswald"/>
                <a:cs typeface="Oswald"/>
                <a:sym typeface="Oswald"/>
              </a:rPr>
              <a:t> get_meteo 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che accetta un parametro obbligatorio </a:t>
            </a:r>
            <a:r>
              <a:rPr lang="it" sz="2387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citta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 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it" sz="2387">
                <a:solidFill>
                  <a:srgbClr val="00FFFF"/>
                </a:solidFill>
                <a:latin typeface="Oswald"/>
                <a:ea typeface="Oswald"/>
                <a:cs typeface="Oswald"/>
                <a:sym typeface="Oswald"/>
              </a:rPr>
              <a:t>get_meteo()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 : Fa tre cose in sequenza: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-323321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Oswald"/>
              <a:buChar char="●"/>
            </a:pPr>
            <a:r>
              <a:rPr lang="it" sz="2387">
                <a:latin typeface="Oswald"/>
                <a:ea typeface="Oswald"/>
                <a:cs typeface="Oswald"/>
                <a:sym typeface="Oswald"/>
              </a:rPr>
              <a:t>Validazione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-32332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swald"/>
              <a:buChar char="●"/>
            </a:pPr>
            <a:r>
              <a:rPr lang="it" sz="2387">
                <a:latin typeface="Oswald"/>
                <a:ea typeface="Oswald"/>
                <a:cs typeface="Oswald"/>
                <a:sym typeface="Oswald"/>
              </a:rPr>
              <a:t>Costruzione URL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-32332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swald"/>
              <a:buChar char="●"/>
            </a:pPr>
            <a:r>
              <a:rPr lang="it" sz="2387">
                <a:latin typeface="Oswald"/>
                <a:ea typeface="Oswald"/>
                <a:cs typeface="Oswald"/>
                <a:sym typeface="Oswald"/>
              </a:rPr>
              <a:t>Chiamata HTTP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387">
                <a:solidFill>
                  <a:srgbClr val="00FFFF"/>
                </a:solidFill>
                <a:latin typeface="Oswald"/>
                <a:ea typeface="Oswald"/>
                <a:cs typeface="Oswald"/>
                <a:sym typeface="Oswald"/>
              </a:rPr>
              <a:t>esegui_v2()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 : riceve il nome del tool e i parametri (già estratti dal JSON di Claude) e chiama la funzione Python corrispondente.</a:t>
            </a:r>
            <a:r>
              <a:rPr lang="it" sz="2387">
                <a:latin typeface="Arial"/>
                <a:ea typeface="Arial"/>
                <a:cs typeface="Arial"/>
                <a:sym typeface="Arial"/>
              </a:rPr>
              <a:t> </a:t>
            </a:r>
            <a:endParaRPr sz="23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387">
                <a:solidFill>
                  <a:srgbClr val="00FFFF"/>
                </a:solidFill>
                <a:latin typeface="Oswald"/>
                <a:ea typeface="Oswald"/>
                <a:cs typeface="Oswald"/>
                <a:sym typeface="Oswald"/>
              </a:rPr>
              <a:t>tool_loop </a:t>
            </a:r>
            <a:r>
              <a:rPr lang="it" sz="2387">
                <a:latin typeface="Oswald"/>
                <a:ea typeface="Oswald"/>
                <a:cs typeface="Oswald"/>
                <a:sym typeface="Oswald"/>
              </a:rPr>
              <a:t>: È un ciclo while che continua a chiamare Claude finché lui non dice "ho finito". Ad ogni giro o Claude chiede di eseguire un tool, oppure risponde all'utente e il ciclo si ferma. </a:t>
            </a:r>
            <a:endParaRPr sz="2387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22"/>
              <a:t>Tool concatenati — Domanda che usa RAG + calcolatrice insieme</a:t>
            </a:r>
            <a:endParaRPr sz="202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