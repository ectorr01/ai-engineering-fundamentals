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Average"/>
      <p:regular r:id="rId16"/>
    </p:embeddedFont>
    <p:embeddedFont>
      <p:font typeface="Oswal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swald-regular.fntdata"/><Relationship Id="rId16" Type="http://schemas.openxmlformats.org/officeDocument/2006/relationships/font" Target="fonts/Average-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swa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a7d2c8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a7d2c8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5a7d2c82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5a7d2c82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5a7d2c82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5a7d2c82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800">
                <a:solidFill>
                  <a:schemeClr val="dk1"/>
                </a:solidFill>
                <a:latin typeface="Average"/>
                <a:ea typeface="Average"/>
                <a:cs typeface="Average"/>
                <a:sym typeface="Average"/>
              </a:rPr>
              <a:t> Esercizio 1</a:t>
            </a:r>
            <a:endParaRPr sz="1800">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it" sz="1800">
                <a:solidFill>
                  <a:schemeClr val="dk1"/>
                </a:solidFill>
                <a:latin typeface="Average"/>
                <a:ea typeface="Average"/>
                <a:cs typeface="Average"/>
                <a:sym typeface="Average"/>
              </a:rPr>
              <a:t>Stessa domanda, stesso documento, tre dimensioni di chunk diverse. </a:t>
            </a:r>
            <a:endParaRPr sz="1800">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it" sz="1800">
                <a:solidFill>
                  <a:schemeClr val="dk1"/>
                </a:solidFill>
                <a:latin typeface="Average"/>
                <a:ea typeface="Average"/>
                <a:cs typeface="Average"/>
                <a:sym typeface="Average"/>
              </a:rPr>
              <a:t>I chunk recuperati sono diversi?  Si per grandezza </a:t>
            </a:r>
            <a:endParaRPr sz="1800">
              <a:solidFill>
                <a:schemeClr val="dk1"/>
              </a:solidFill>
              <a:latin typeface="Average"/>
              <a:ea typeface="Average"/>
              <a:cs typeface="Average"/>
              <a:sym typeface="Average"/>
            </a:endParaRPr>
          </a:p>
          <a:p>
            <a:pPr indent="0" lvl="0" marL="0" rtl="0" algn="l">
              <a:lnSpc>
                <a:spcPct val="115000"/>
              </a:lnSpc>
              <a:spcBef>
                <a:spcPts val="1200"/>
              </a:spcBef>
              <a:spcAft>
                <a:spcPts val="1200"/>
              </a:spcAft>
              <a:buClr>
                <a:schemeClr val="dk1"/>
              </a:buClr>
              <a:buSzPts val="1100"/>
              <a:buFont typeface="Arial"/>
              <a:buNone/>
            </a:pPr>
            <a:r>
              <a:rPr lang="it" sz="1800">
                <a:solidFill>
                  <a:schemeClr val="dk1"/>
                </a:solidFill>
                <a:latin typeface="Average"/>
                <a:ea typeface="Average"/>
                <a:cs typeface="Average"/>
                <a:sym typeface="Average"/>
              </a:rPr>
              <a:t>La dimensione con 400 chunk ha informazioni più utili</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5a7d2c82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5a7d2c82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dda8fd57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dda8fd57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2b599cd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82b599cd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dda8fd5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5dda8fd5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5dda8fd57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5dda8fd5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5dda8fd57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5dda8fd57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1443150" y="387625"/>
            <a:ext cx="6518700" cy="1619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CHUNKING &amp; EMBEDDING</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it">
                <a:solidFill>
                  <a:schemeClr val="dk1"/>
                </a:solidFill>
              </a:rPr>
              <a:t>GRUPPO B</a:t>
            </a:r>
            <a:endParaRPr>
              <a:solidFill>
                <a:schemeClr val="dk1"/>
              </a:solidFill>
            </a:endParaRPr>
          </a:p>
          <a:p>
            <a:pPr indent="0" lvl="0" marL="0" rtl="0" algn="ctr">
              <a:spcBef>
                <a:spcPts val="0"/>
              </a:spcBef>
              <a:spcAft>
                <a:spcPts val="0"/>
              </a:spcAft>
              <a:buNone/>
            </a:pPr>
            <a:r>
              <a:rPr lang="it"/>
              <a:t>STEFANO, ANNA E LORENZO L.</a:t>
            </a:r>
            <a:endParaRPr/>
          </a:p>
        </p:txBody>
      </p:sp>
      <p:sp>
        <p:nvSpPr>
          <p:cNvPr id="61" name="Google Shape;61;p13"/>
          <p:cNvSpPr/>
          <p:nvPr/>
        </p:nvSpPr>
        <p:spPr>
          <a:xfrm>
            <a:off x="4095750" y="2571750"/>
            <a:ext cx="952500" cy="38100"/>
          </a:xfrm>
          <a:prstGeom prst="roundRect">
            <a:avLst>
              <a:gd fmla="val 50000" name="adj"/>
            </a:avLst>
          </a:prstGeom>
          <a:solidFill>
            <a:srgbClr val="FF704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23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it"/>
              <a:t>Chunking &amp; Embedding</a:t>
            </a:r>
            <a:endParaRPr/>
          </a:p>
        </p:txBody>
      </p:sp>
      <p:sp>
        <p:nvSpPr>
          <p:cNvPr id="67" name="Google Shape;67;p14"/>
          <p:cNvSpPr txBox="1"/>
          <p:nvPr>
            <p:ph idx="1" type="body"/>
          </p:nvPr>
        </p:nvSpPr>
        <p:spPr>
          <a:xfrm>
            <a:off x="311700" y="1156775"/>
            <a:ext cx="8520600" cy="1212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it" sz="1716">
                <a:solidFill>
                  <a:schemeClr val="dk1"/>
                </a:solidFill>
                <a:latin typeface="Oswald"/>
                <a:ea typeface="Oswald"/>
                <a:cs typeface="Oswald"/>
                <a:sym typeface="Oswald"/>
              </a:rPr>
              <a:t>Chunking — "Sminuzza il documento"</a:t>
            </a:r>
            <a:endParaRPr b="1" sz="1716">
              <a:solidFill>
                <a:schemeClr val="dk1"/>
              </a:solidFill>
              <a:latin typeface="Oswald"/>
              <a:ea typeface="Oswald"/>
              <a:cs typeface="Oswald"/>
              <a:sym typeface="Oswald"/>
            </a:endParaRPr>
          </a:p>
          <a:p>
            <a:pPr indent="0" lvl="0" marL="0" rtl="0" algn="l">
              <a:spcBef>
                <a:spcPts val="1200"/>
              </a:spcBef>
              <a:spcAft>
                <a:spcPts val="1200"/>
              </a:spcAft>
              <a:buNone/>
            </a:pPr>
            <a:r>
              <a:rPr lang="it" sz="1500">
                <a:solidFill>
                  <a:schemeClr val="lt2"/>
                </a:solidFill>
                <a:latin typeface="Oswald"/>
                <a:ea typeface="Oswald"/>
                <a:cs typeface="Oswald"/>
                <a:sym typeface="Oswald"/>
              </a:rPr>
              <a:t>Il chunking è il processo di tagliare un testo lungo in pezzi più piccoli chiamati chunk.</a:t>
            </a:r>
            <a:endParaRPr sz="1500">
              <a:solidFill>
                <a:schemeClr val="lt2"/>
              </a:solidFill>
              <a:latin typeface="Oswald"/>
              <a:ea typeface="Oswald"/>
              <a:cs typeface="Oswald"/>
              <a:sym typeface="Oswald"/>
            </a:endParaRPr>
          </a:p>
        </p:txBody>
      </p:sp>
      <p:sp>
        <p:nvSpPr>
          <p:cNvPr id="68" name="Google Shape;68;p14"/>
          <p:cNvSpPr/>
          <p:nvPr/>
        </p:nvSpPr>
        <p:spPr>
          <a:xfrm>
            <a:off x="260550" y="2777650"/>
            <a:ext cx="8622900" cy="2053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it" sz="1700">
                <a:solidFill>
                  <a:schemeClr val="dk1"/>
                </a:solidFill>
                <a:latin typeface="Oswald"/>
                <a:ea typeface="Oswald"/>
                <a:cs typeface="Oswald"/>
                <a:sym typeface="Oswald"/>
              </a:rPr>
              <a:t>Embedding — "Trasforma il significato in numeri"</a:t>
            </a:r>
            <a:r>
              <a:rPr lang="it" sz="1700">
                <a:solidFill>
                  <a:schemeClr val="dk1"/>
                </a:solidFill>
                <a:latin typeface="Oswald"/>
                <a:ea typeface="Oswald"/>
                <a:cs typeface="Oswald"/>
                <a:sym typeface="Oswald"/>
              </a:rPr>
              <a:t> </a:t>
            </a:r>
            <a:endParaRPr sz="1700">
              <a:solidFill>
                <a:schemeClr val="dk1"/>
              </a:solidFill>
              <a:latin typeface="Oswald"/>
              <a:ea typeface="Oswald"/>
              <a:cs typeface="Oswald"/>
              <a:sym typeface="Oswald"/>
            </a:endParaRPr>
          </a:p>
          <a:p>
            <a:pPr indent="0" lvl="0" marL="0" rtl="0" algn="l">
              <a:lnSpc>
                <a:spcPct val="115000"/>
              </a:lnSpc>
              <a:spcBef>
                <a:spcPts val="1200"/>
              </a:spcBef>
              <a:spcAft>
                <a:spcPts val="0"/>
              </a:spcAft>
              <a:buNone/>
            </a:pPr>
            <a:r>
              <a:rPr lang="it" sz="1500">
                <a:solidFill>
                  <a:schemeClr val="lt2"/>
                </a:solidFill>
                <a:latin typeface="Oswald"/>
                <a:ea typeface="Oswald"/>
                <a:cs typeface="Oswald"/>
                <a:sym typeface="Oswald"/>
              </a:rPr>
              <a:t>Un embedding è la trasformazione di un testo in un vettore numerico — una lista di numeri (tipicamente 384 o 1536 valori) che rappresenta il significato del testo. Testi con significato simile producono vettori simili. </a:t>
            </a:r>
            <a:endParaRPr sz="1500">
              <a:solidFill>
                <a:schemeClr val="lt2"/>
              </a:solidFill>
              <a:latin typeface="Oswald"/>
              <a:ea typeface="Oswald"/>
              <a:cs typeface="Oswald"/>
              <a:sym typeface="Oswald"/>
            </a:endParaRPr>
          </a:p>
          <a:p>
            <a:pPr indent="0" lvl="0" marL="0" rtl="0" algn="l">
              <a:lnSpc>
                <a:spcPct val="115000"/>
              </a:lnSpc>
              <a:spcBef>
                <a:spcPts val="1200"/>
              </a:spcBef>
              <a:spcAft>
                <a:spcPts val="0"/>
              </a:spcAft>
              <a:buNone/>
            </a:pPr>
            <a:r>
              <a:rPr lang="it" sz="1500">
                <a:solidFill>
                  <a:schemeClr val="lt2"/>
                </a:solidFill>
                <a:latin typeface="Oswald"/>
                <a:ea typeface="Oswald"/>
                <a:cs typeface="Oswald"/>
                <a:sym typeface="Oswald"/>
              </a:rPr>
              <a:t>Obiettivo GRUPPO B: Esplorare come la dimensione dei chunk e l'overlap impattano la qualità della RAG  e trovare i parametri ottimali per il documento WiData. </a:t>
            </a:r>
            <a:endParaRPr sz="1500">
              <a:solidFill>
                <a:schemeClr val="lt2"/>
              </a:solidFill>
              <a:latin typeface="Oswald"/>
              <a:ea typeface="Oswald"/>
              <a:cs typeface="Oswald"/>
              <a:sym typeface="Oswald"/>
            </a:endParaRPr>
          </a:p>
          <a:p>
            <a:pPr indent="0" lvl="0" marL="0" rtl="0" algn="ctr">
              <a:spcBef>
                <a:spcPts val="1200"/>
              </a:spcBef>
              <a:spcAft>
                <a:spcPts val="0"/>
              </a:spcAft>
              <a:buNone/>
            </a:pPr>
            <a:r>
              <a:t/>
            </a:r>
            <a:endParaRPr sz="200">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5" name="Google Shape;75;p15" title="Gemini_Generated_Image_wkoubhwkoubhwkou.png"/>
          <p:cNvPicPr preferRelativeResize="0"/>
          <p:nvPr/>
        </p:nvPicPr>
        <p:blipFill>
          <a:blip r:embed="rId3">
            <a:alphaModFix/>
          </a:blip>
          <a:stretch>
            <a:fillRect/>
          </a:stretch>
        </p:blipFill>
        <p:spPr>
          <a:xfrm>
            <a:off x="68988" y="105213"/>
            <a:ext cx="9006024" cy="4933075"/>
          </a:xfrm>
          <a:prstGeom prst="rect">
            <a:avLst/>
          </a:prstGeom>
          <a:noFill/>
          <a:ln>
            <a:noFill/>
          </a:ln>
        </p:spPr>
      </p:pic>
      <p:pic>
        <p:nvPicPr>
          <p:cNvPr id="76" name="Google Shape;76;p15"/>
          <p:cNvPicPr preferRelativeResize="0"/>
          <p:nvPr/>
        </p:nvPicPr>
        <p:blipFill>
          <a:blip r:embed="rId4">
            <a:alphaModFix/>
          </a:blip>
          <a:stretch>
            <a:fillRect/>
          </a:stretch>
        </p:blipFill>
        <p:spPr>
          <a:xfrm>
            <a:off x="101050" y="4246650"/>
            <a:ext cx="3637325" cy="630750"/>
          </a:xfrm>
          <a:prstGeom prst="rect">
            <a:avLst/>
          </a:prstGeom>
          <a:noFill/>
          <a:ln>
            <a:noFill/>
          </a:ln>
        </p:spPr>
      </p:pic>
      <p:pic>
        <p:nvPicPr>
          <p:cNvPr id="77" name="Google Shape;77;p15"/>
          <p:cNvPicPr preferRelativeResize="0"/>
          <p:nvPr/>
        </p:nvPicPr>
        <p:blipFill>
          <a:blip r:embed="rId5">
            <a:alphaModFix/>
          </a:blip>
          <a:stretch>
            <a:fillRect/>
          </a:stretch>
        </p:blipFill>
        <p:spPr>
          <a:xfrm>
            <a:off x="125063" y="4459049"/>
            <a:ext cx="4306713" cy="572700"/>
          </a:xfrm>
          <a:prstGeom prst="rect">
            <a:avLst/>
          </a:prstGeom>
          <a:noFill/>
          <a:ln>
            <a:noFill/>
          </a:ln>
        </p:spPr>
      </p:pic>
      <p:sp>
        <p:nvSpPr>
          <p:cNvPr id="78" name="Google Shape;78;p15"/>
          <p:cNvSpPr txBox="1"/>
          <p:nvPr/>
        </p:nvSpPr>
        <p:spPr>
          <a:xfrm>
            <a:off x="56029" y="4039840"/>
            <a:ext cx="4610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900">
                <a:solidFill>
                  <a:srgbClr val="38761D"/>
                </a:solidFill>
                <a:latin typeface="Average"/>
                <a:ea typeface="Average"/>
                <a:cs typeface="Average"/>
                <a:sym typeface="Average"/>
              </a:rPr>
              <a:t>Chunk 2:</a:t>
            </a:r>
            <a:r>
              <a:rPr lang="it" sz="900">
                <a:solidFill>
                  <a:srgbClr val="B7B7B7"/>
                </a:solidFill>
                <a:latin typeface="Average"/>
                <a:ea typeface="Average"/>
                <a:cs typeface="Average"/>
                <a:sym typeface="Average"/>
              </a:rPr>
              <a:t> e (5 sensori), Pro (100 sensori, €49/mese), Enterprise (illimitato)</a:t>
            </a:r>
            <a:r>
              <a:rPr lang="it" sz="1100">
                <a:solidFill>
                  <a:srgbClr val="B7B7B7"/>
                </a:solidFill>
                <a:latin typeface="Average"/>
                <a:ea typeface="Average"/>
                <a:cs typeface="Average"/>
                <a:sym typeface="Average"/>
              </a:rPr>
              <a:t>.</a:t>
            </a:r>
            <a:endParaRPr sz="1100">
              <a:solidFill>
                <a:srgbClr val="B7B7B7"/>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it" sz="2022"/>
              <a:t>Confronto chunk_size </a:t>
            </a:r>
            <a:endParaRPr sz="2022"/>
          </a:p>
          <a:p>
            <a:pPr indent="0" lvl="0" marL="0" rtl="0" algn="l">
              <a:lnSpc>
                <a:spcPct val="115000"/>
              </a:lnSpc>
              <a:spcBef>
                <a:spcPts val="1200"/>
              </a:spcBef>
              <a:spcAft>
                <a:spcPts val="1200"/>
              </a:spcAft>
              <a:buNone/>
            </a:pPr>
            <a:r>
              <a:rPr lang="it" sz="1800">
                <a:solidFill>
                  <a:schemeClr val="accent3"/>
                </a:solidFill>
                <a:latin typeface="Average"/>
                <a:ea typeface="Average"/>
                <a:cs typeface="Average"/>
                <a:sym typeface="Average"/>
              </a:rPr>
              <a:t> </a:t>
            </a:r>
            <a:endParaRPr sz="1800">
              <a:latin typeface="Average"/>
              <a:ea typeface="Average"/>
              <a:cs typeface="Average"/>
              <a:sym typeface="Average"/>
            </a:endParaRPr>
          </a:p>
        </p:txBody>
      </p:sp>
      <p:sp>
        <p:nvSpPr>
          <p:cNvPr id="84" name="Google Shape;84;p16"/>
          <p:cNvSpPr txBox="1"/>
          <p:nvPr>
            <p:ph idx="1" type="body"/>
          </p:nvPr>
        </p:nvSpPr>
        <p:spPr>
          <a:xfrm>
            <a:off x="311700" y="1428875"/>
            <a:ext cx="8520600" cy="31398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it" sz="3901">
                <a:solidFill>
                  <a:schemeClr val="dk1"/>
                </a:solidFill>
                <a:latin typeface="Oswald"/>
                <a:ea typeface="Oswald"/>
                <a:cs typeface="Oswald"/>
                <a:sym typeface="Oswald"/>
              </a:rPr>
              <a:t>Osservazioni: </a:t>
            </a:r>
            <a:endParaRPr sz="3901">
              <a:solidFill>
                <a:schemeClr val="dk1"/>
              </a:solidFill>
              <a:latin typeface="Oswald"/>
              <a:ea typeface="Oswald"/>
              <a:cs typeface="Oswald"/>
              <a:sym typeface="Oswald"/>
            </a:endParaRPr>
          </a:p>
          <a:p>
            <a:pPr indent="0" lvl="0" marL="0" rtl="0" algn="l">
              <a:spcBef>
                <a:spcPts val="1200"/>
              </a:spcBef>
              <a:spcAft>
                <a:spcPts val="0"/>
              </a:spcAft>
              <a:buNone/>
            </a:pPr>
            <a:r>
              <a:rPr lang="it" sz="3901">
                <a:solidFill>
                  <a:schemeClr val="dk1"/>
                </a:solidFill>
                <a:latin typeface="Oswald"/>
                <a:ea typeface="Oswald"/>
                <a:cs typeface="Oswald"/>
                <a:sym typeface="Oswald"/>
              </a:rPr>
              <a:t>chunk_size 100 taglia troppo, non si capisce</a:t>
            </a:r>
            <a:endParaRPr sz="3901">
              <a:solidFill>
                <a:schemeClr val="dk1"/>
              </a:solidFill>
              <a:latin typeface="Oswald"/>
              <a:ea typeface="Oswald"/>
              <a:cs typeface="Oswald"/>
              <a:sym typeface="Oswald"/>
            </a:endParaRPr>
          </a:p>
          <a:p>
            <a:pPr indent="0" lvl="0" marL="0" rtl="0" algn="l">
              <a:spcBef>
                <a:spcPts val="1200"/>
              </a:spcBef>
              <a:spcAft>
                <a:spcPts val="0"/>
              </a:spcAft>
              <a:buNone/>
            </a:pPr>
            <a:r>
              <a:rPr lang="it" sz="3901">
                <a:solidFill>
                  <a:schemeClr val="dk1"/>
                </a:solidFill>
                <a:latin typeface="Oswald"/>
                <a:ea typeface="Oswald"/>
                <a:cs typeface="Oswald"/>
                <a:sym typeface="Oswald"/>
              </a:rPr>
              <a:t>chunk_size 400 non risponde bene alla nostra domanda</a:t>
            </a:r>
            <a:endParaRPr sz="3901">
              <a:solidFill>
                <a:schemeClr val="dk1"/>
              </a:solidFill>
              <a:latin typeface="Oswald"/>
              <a:ea typeface="Oswald"/>
              <a:cs typeface="Oswald"/>
              <a:sym typeface="Oswald"/>
            </a:endParaRPr>
          </a:p>
          <a:p>
            <a:pPr indent="0" lvl="0" marL="0" rtl="0" algn="l">
              <a:spcBef>
                <a:spcPts val="1200"/>
              </a:spcBef>
              <a:spcAft>
                <a:spcPts val="0"/>
              </a:spcAft>
              <a:buNone/>
            </a:pPr>
            <a:r>
              <a:rPr lang="it" sz="3901">
                <a:solidFill>
                  <a:schemeClr val="dk1"/>
                </a:solidFill>
                <a:latin typeface="Oswald"/>
                <a:ea typeface="Oswald"/>
                <a:cs typeface="Oswald"/>
                <a:sym typeface="Oswald"/>
              </a:rPr>
              <a:t>chunk_size 800 recupera tutto il documento, troppo rumore</a:t>
            </a:r>
            <a:endParaRPr sz="3901">
              <a:solidFill>
                <a:schemeClr val="dk1"/>
              </a:solidFill>
              <a:latin typeface="Oswald"/>
              <a:ea typeface="Oswald"/>
              <a:cs typeface="Oswald"/>
              <a:sym typeface="Oswald"/>
            </a:endParaRPr>
          </a:p>
          <a:p>
            <a:pPr indent="0" lvl="0" marL="0" rtl="0" algn="l">
              <a:spcBef>
                <a:spcPts val="1200"/>
              </a:spcBef>
              <a:spcAft>
                <a:spcPts val="0"/>
              </a:spcAft>
              <a:buNone/>
            </a:pPr>
            <a:r>
              <a:t/>
            </a:r>
            <a:endParaRPr sz="3901">
              <a:solidFill>
                <a:schemeClr val="dk1"/>
              </a:solidFill>
              <a:latin typeface="Oswald"/>
              <a:ea typeface="Oswald"/>
              <a:cs typeface="Oswald"/>
              <a:sym typeface="Oswald"/>
            </a:endParaRPr>
          </a:p>
          <a:p>
            <a:pPr indent="0" lvl="0" marL="0" rtl="0" algn="l">
              <a:spcBef>
                <a:spcPts val="1200"/>
              </a:spcBef>
              <a:spcAft>
                <a:spcPts val="0"/>
              </a:spcAft>
              <a:buNone/>
            </a:pPr>
            <a:r>
              <a:rPr lang="it" sz="3901">
                <a:solidFill>
                  <a:schemeClr val="dk1"/>
                </a:solidFill>
                <a:latin typeface="Oswald"/>
                <a:ea typeface="Oswald"/>
                <a:cs typeface="Oswald"/>
                <a:sym typeface="Oswald"/>
              </a:rPr>
              <a:t>Secondo noi l’ideale sarebbe avere un chunk_size 450</a:t>
            </a:r>
            <a:endParaRPr sz="3901">
              <a:solidFill>
                <a:schemeClr val="dk1"/>
              </a:solidFill>
              <a:latin typeface="Oswald"/>
              <a:ea typeface="Oswald"/>
              <a:cs typeface="Oswald"/>
              <a:sym typeface="Oswald"/>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1796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it" sz="2022"/>
              <a:t>L </a:t>
            </a:r>
            <a:r>
              <a:rPr lang="it" sz="2022"/>
              <a:t>'effetto dell'overlap — Il  caso della frase spezzata</a:t>
            </a:r>
            <a:endParaRPr sz="2022"/>
          </a:p>
          <a:p>
            <a:pPr indent="0" lvl="0" marL="0" rtl="0" algn="l">
              <a:spcBef>
                <a:spcPts val="1200"/>
              </a:spcBef>
              <a:spcAft>
                <a:spcPts val="0"/>
              </a:spcAft>
              <a:buNone/>
            </a:pPr>
            <a:r>
              <a:t/>
            </a:r>
            <a:endParaRPr/>
          </a:p>
        </p:txBody>
      </p:sp>
      <p:sp>
        <p:nvSpPr>
          <p:cNvPr id="90" name="Google Shape;9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7" title="collage - Copia1.png"/>
          <p:cNvPicPr preferRelativeResize="0"/>
          <p:nvPr/>
        </p:nvPicPr>
        <p:blipFill>
          <a:blip r:embed="rId3">
            <a:alphaModFix/>
          </a:blip>
          <a:stretch>
            <a:fillRect/>
          </a:stretch>
        </p:blipFill>
        <p:spPr>
          <a:xfrm>
            <a:off x="234725" y="636900"/>
            <a:ext cx="8757223" cy="40793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pic>
        <p:nvPicPr>
          <p:cNvPr id="96" name="Google Shape;96;p18"/>
          <p:cNvPicPr preferRelativeResize="0"/>
          <p:nvPr/>
        </p:nvPicPr>
        <p:blipFill>
          <a:blip r:embed="rId3">
            <a:alphaModFix/>
          </a:blip>
          <a:stretch>
            <a:fillRect/>
          </a:stretch>
        </p:blipFill>
        <p:spPr>
          <a:xfrm>
            <a:off x="1338675" y="686675"/>
            <a:ext cx="6466650" cy="2367075"/>
          </a:xfrm>
          <a:prstGeom prst="rect">
            <a:avLst/>
          </a:prstGeom>
          <a:noFill/>
          <a:ln>
            <a:noFill/>
          </a:ln>
        </p:spPr>
      </p:pic>
      <p:pic>
        <p:nvPicPr>
          <p:cNvPr id="97" name="Google Shape;97;p18"/>
          <p:cNvPicPr preferRelativeResize="0"/>
          <p:nvPr/>
        </p:nvPicPr>
        <p:blipFill>
          <a:blip r:embed="rId4">
            <a:alphaModFix/>
          </a:blip>
          <a:stretch>
            <a:fillRect/>
          </a:stretch>
        </p:blipFill>
        <p:spPr>
          <a:xfrm>
            <a:off x="1338675" y="3134075"/>
            <a:ext cx="6466650" cy="1593875"/>
          </a:xfrm>
          <a:prstGeom prst="rect">
            <a:avLst/>
          </a:prstGeom>
          <a:noFill/>
          <a:ln>
            <a:noFill/>
          </a:ln>
        </p:spPr>
      </p:pic>
      <p:sp>
        <p:nvSpPr>
          <p:cNvPr id="98" name="Google Shape;98;p18"/>
          <p:cNvSpPr txBox="1"/>
          <p:nvPr>
            <p:ph type="title"/>
          </p:nvPr>
        </p:nvSpPr>
        <p:spPr>
          <a:xfrm>
            <a:off x="311700" y="17967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2022"/>
              <a:t>Senza Overlap</a:t>
            </a:r>
            <a:endParaRPr sz="2022"/>
          </a:p>
          <a:p>
            <a:pPr indent="0" lvl="0" marL="0" rtl="0" algn="l">
              <a:spcBef>
                <a:spcPts val="12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7967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2022"/>
              <a:t>Con</a:t>
            </a:r>
            <a:r>
              <a:rPr lang="it" sz="2022"/>
              <a:t> Overlap</a:t>
            </a:r>
            <a:endParaRPr sz="2022"/>
          </a:p>
          <a:p>
            <a:pPr indent="0" lvl="0" marL="0" rtl="0" algn="l">
              <a:spcBef>
                <a:spcPts val="1200"/>
              </a:spcBef>
              <a:spcAft>
                <a:spcPts val="0"/>
              </a:spcAft>
              <a:buNone/>
            </a:pPr>
            <a:r>
              <a:t/>
            </a:r>
            <a:endParaRPr/>
          </a:p>
        </p:txBody>
      </p:sp>
      <p:pic>
        <p:nvPicPr>
          <p:cNvPr id="104" name="Google Shape;104;p19"/>
          <p:cNvPicPr preferRelativeResize="0"/>
          <p:nvPr/>
        </p:nvPicPr>
        <p:blipFill>
          <a:blip r:embed="rId3">
            <a:alphaModFix/>
          </a:blip>
          <a:stretch>
            <a:fillRect/>
          </a:stretch>
        </p:blipFill>
        <p:spPr>
          <a:xfrm>
            <a:off x="1617000" y="626150"/>
            <a:ext cx="5707750" cy="2306475"/>
          </a:xfrm>
          <a:prstGeom prst="rect">
            <a:avLst/>
          </a:prstGeom>
          <a:noFill/>
          <a:ln>
            <a:noFill/>
          </a:ln>
        </p:spPr>
      </p:pic>
      <p:pic>
        <p:nvPicPr>
          <p:cNvPr id="105" name="Google Shape;105;p19"/>
          <p:cNvPicPr preferRelativeResize="0"/>
          <p:nvPr/>
        </p:nvPicPr>
        <p:blipFill>
          <a:blip r:embed="rId4">
            <a:alphaModFix/>
          </a:blip>
          <a:stretch>
            <a:fillRect/>
          </a:stretch>
        </p:blipFill>
        <p:spPr>
          <a:xfrm>
            <a:off x="1616995" y="2981729"/>
            <a:ext cx="5707750" cy="1722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it" sz="1800"/>
              <a:t>Il nostro benchmark — tabella con i risultati delle 4 configurazioni</a:t>
            </a:r>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solidFill>
                  <a:schemeClr val="dk1"/>
                </a:solidFill>
                <a:latin typeface="Oswald"/>
                <a:ea typeface="Oswald"/>
                <a:cs typeface="Oswald"/>
                <a:sym typeface="Oswald"/>
              </a:rPr>
              <a:t>La configurazione size=800 con overlap=100 ottiene 5/5 in questo benchmark. In contesti reali noi raccomandiamo chunk_size=400 con overlap=50 perché recupera le info senza portare troppo contesto inutile a Claude</a:t>
            </a:r>
            <a:endParaRPr>
              <a:solidFill>
                <a:schemeClr val="dk1"/>
              </a:solidFill>
              <a:latin typeface="Oswald"/>
              <a:ea typeface="Oswald"/>
              <a:cs typeface="Oswald"/>
              <a:sym typeface="Oswald"/>
            </a:endParaRPr>
          </a:p>
        </p:txBody>
      </p:sp>
      <p:pic>
        <p:nvPicPr>
          <p:cNvPr id="112" name="Google Shape;112;p20"/>
          <p:cNvPicPr preferRelativeResize="0"/>
          <p:nvPr/>
        </p:nvPicPr>
        <p:blipFill>
          <a:blip r:embed="rId3">
            <a:alphaModFix/>
          </a:blip>
          <a:stretch>
            <a:fillRect/>
          </a:stretch>
        </p:blipFill>
        <p:spPr>
          <a:xfrm>
            <a:off x="359825" y="2249288"/>
            <a:ext cx="5048250" cy="2162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55200" y="36890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it" sz="2022"/>
              <a:t>Chunking semantico vs fisso — differenze e quando usare quale</a:t>
            </a:r>
            <a:endParaRPr sz="2022"/>
          </a:p>
          <a:p>
            <a:pPr indent="0" lvl="0" marL="0" rtl="0" algn="l">
              <a:spcBef>
                <a:spcPts val="1200"/>
              </a:spcBef>
              <a:spcAft>
                <a:spcPts val="0"/>
              </a:spcAft>
              <a:buNone/>
            </a:pPr>
            <a:r>
              <a:t/>
            </a:r>
            <a:endParaRPr/>
          </a:p>
        </p:txBody>
      </p:sp>
      <p:sp>
        <p:nvSpPr>
          <p:cNvPr id="118" name="Google Shape;11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solidFill>
                  <a:schemeClr val="dk1"/>
                </a:solidFill>
                <a:latin typeface="Oswald"/>
                <a:ea typeface="Oswald"/>
                <a:cs typeface="Oswald"/>
                <a:sym typeface="Oswald"/>
              </a:rPr>
              <a:t>Il chunk fisso taglia ogni N caratteri senza guardare il contenuto, è più semplice, ma può spezzare le frasi o dividere a metà una specifica tecnica importante. Il chunk semantico invece taglia dove il testo cambia argomento. Preferibile usare chunk fisso quando abbiamo un documento “continuo”, chunk semantico quando abbiamo un documento suddiviso in paragrafi</a:t>
            </a:r>
            <a:endParaRPr>
              <a:solidFill>
                <a:schemeClr val="dk1"/>
              </a:solidFill>
              <a:latin typeface="Oswald"/>
              <a:ea typeface="Oswald"/>
              <a:cs typeface="Oswald"/>
              <a:sym typeface="Oswald"/>
            </a:endParaRPr>
          </a:p>
        </p:txBody>
      </p:sp>
      <p:pic>
        <p:nvPicPr>
          <p:cNvPr id="119" name="Google Shape;119;p21"/>
          <p:cNvPicPr preferRelativeResize="0"/>
          <p:nvPr/>
        </p:nvPicPr>
        <p:blipFill>
          <a:blip r:embed="rId3">
            <a:alphaModFix/>
          </a:blip>
          <a:stretch>
            <a:fillRect/>
          </a:stretch>
        </p:blipFill>
        <p:spPr>
          <a:xfrm>
            <a:off x="395225" y="2509700"/>
            <a:ext cx="6305550" cy="1924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127100" y="149675"/>
            <a:ext cx="8520600" cy="37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it" sz="2022"/>
              <a:t>La nostra raccomandazione — parametri ottimali per WiData </a:t>
            </a:r>
            <a:endParaRPr sz="2244"/>
          </a:p>
          <a:p>
            <a:pPr indent="0" lvl="0" marL="0" rtl="0" algn="l">
              <a:spcBef>
                <a:spcPts val="1200"/>
              </a:spcBef>
              <a:spcAft>
                <a:spcPts val="0"/>
              </a:spcAft>
              <a:buNone/>
            </a:pPr>
            <a:r>
              <a:t/>
            </a:r>
            <a:endParaRPr/>
          </a:p>
        </p:txBody>
      </p:sp>
      <p:sp>
        <p:nvSpPr>
          <p:cNvPr id="125" name="Google Shape;125;p22"/>
          <p:cNvSpPr txBox="1"/>
          <p:nvPr>
            <p:ph idx="1" type="body"/>
          </p:nvPr>
        </p:nvSpPr>
        <p:spPr>
          <a:xfrm>
            <a:off x="178800" y="870900"/>
            <a:ext cx="4338000" cy="341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300">
                <a:solidFill>
                  <a:schemeClr val="dk1"/>
                </a:solidFill>
                <a:latin typeface="Oswald"/>
                <a:ea typeface="Oswald"/>
                <a:cs typeface="Oswald"/>
                <a:sym typeface="Oswald"/>
              </a:rPr>
              <a:t>Per WiData raccomandiamo il chunking semantico, perché il documento è ben strutturato e suddiviso in paragrafi.</a:t>
            </a:r>
            <a:endParaRPr sz="1300">
              <a:solidFill>
                <a:schemeClr val="dk1"/>
              </a:solidFill>
              <a:latin typeface="Oswald"/>
              <a:ea typeface="Oswald"/>
              <a:cs typeface="Oswald"/>
              <a:sym typeface="Oswald"/>
            </a:endParaRPr>
          </a:p>
          <a:p>
            <a:pPr indent="0" lvl="0" marL="0" rtl="0" algn="l">
              <a:spcBef>
                <a:spcPts val="1200"/>
              </a:spcBef>
              <a:spcAft>
                <a:spcPts val="0"/>
              </a:spcAft>
              <a:buNone/>
            </a:pPr>
            <a:r>
              <a:t/>
            </a:r>
            <a:endParaRPr sz="1300">
              <a:solidFill>
                <a:schemeClr val="dk1"/>
              </a:solidFill>
              <a:latin typeface="Oswald"/>
              <a:ea typeface="Oswald"/>
              <a:cs typeface="Oswald"/>
              <a:sym typeface="Oswald"/>
            </a:endParaRPr>
          </a:p>
          <a:p>
            <a:pPr indent="0" lvl="0" marL="0" rtl="0" algn="l">
              <a:spcBef>
                <a:spcPts val="1200"/>
              </a:spcBef>
              <a:spcAft>
                <a:spcPts val="1200"/>
              </a:spcAft>
              <a:buNone/>
            </a:pPr>
            <a:r>
              <a:rPr lang="it" sz="1300">
                <a:solidFill>
                  <a:schemeClr val="dk1"/>
                </a:solidFill>
                <a:latin typeface="Oswald"/>
                <a:ea typeface="Oswald"/>
                <a:cs typeface="Oswald"/>
                <a:sym typeface="Oswald"/>
              </a:rPr>
              <a:t>In un documento come quello WiData, ogni sezione (SENSORE XS200, GATEWAY GW500, PIATTAFORMA XPLORE, SUPPORTO E ASSISTENZA) parla di un prodotto diverso. Il chunking semantico mantiene queste sezioni intere → ogni chunk è "coerente" e parla di una sola cosa → la RAG è più precisa </a:t>
            </a:r>
            <a:endParaRPr sz="1300">
              <a:solidFill>
                <a:schemeClr val="dk1"/>
              </a:solidFill>
              <a:latin typeface="Oswald"/>
              <a:ea typeface="Oswald"/>
              <a:cs typeface="Oswald"/>
              <a:sym typeface="Oswald"/>
            </a:endParaRPr>
          </a:p>
        </p:txBody>
      </p:sp>
      <p:pic>
        <p:nvPicPr>
          <p:cNvPr id="126" name="Google Shape;126;p22" title="Screenshot 2026-06-02 170339.png"/>
          <p:cNvPicPr preferRelativeResize="0"/>
          <p:nvPr/>
        </p:nvPicPr>
        <p:blipFill>
          <a:blip r:embed="rId3">
            <a:alphaModFix/>
          </a:blip>
          <a:stretch>
            <a:fillRect/>
          </a:stretch>
        </p:blipFill>
        <p:spPr>
          <a:xfrm>
            <a:off x="4671575" y="747100"/>
            <a:ext cx="4406451" cy="4102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