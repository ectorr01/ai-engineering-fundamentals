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hKcDC9DQMRnxFI/aUcZ3t7tBLs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6327648" y="274320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6711696" y="274320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7095744" y="274320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479792" y="274320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863840" y="274320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247888" y="274320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631936" y="274320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943600" y="658368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327648" y="658368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711696" y="658368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095744" y="658368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479792" y="658368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863840" y="658368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247888" y="658368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631936" y="658368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943600" y="1042416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327648" y="1042416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711696" y="1042416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095744" y="1042416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479792" y="1042416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7863840" y="1042416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8247888" y="1042416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8631936" y="1042416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5943600" y="1426464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6327648" y="1426464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6711696" y="1426464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7095744" y="1426464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7479792" y="1426464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7863840" y="1426464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8247888" y="1426464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8631936" y="1426464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5943600" y="1810512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6327648" y="1810512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6711696" y="1810512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7095744" y="1810512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7479792" y="1810512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7863840" y="1810512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8247888" y="1810512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8631936" y="1810512"/>
            <a:ext cx="54864" cy="54864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320040" y="50292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ITS Novitas 4.0 — AI Engineering Fundamentals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320040" y="114300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RAG Completa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320040" y="2514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Generation: dall'indicizzazione alla risposta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"/>
          <p:cNvCxnSpPr/>
          <p:nvPr/>
        </p:nvCxnSpPr>
        <p:spPr>
          <a:xfrm>
            <a:off x="320040" y="3063240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"/>
          <p:cNvSpPr/>
          <p:nvPr/>
        </p:nvSpPr>
        <p:spPr>
          <a:xfrm>
            <a:off x="320040" y="32918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Lorenzo Masia</a:t>
            </a: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Carlo Abis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320040" y="3657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Gruppo A — 28 Maggio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6583680" y="3474720"/>
            <a:ext cx="731520" cy="7315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6583680" y="3474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7452360" y="3474720"/>
            <a:ext cx="731520" cy="73152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7452360" y="3474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8321040" y="3474720"/>
            <a:ext cx="731520" cy="731520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8321040" y="3474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182880" y="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85800" y="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Problema — Hallucination senza RAG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274319" y="84582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Senza accesso ai documenti, Claude risponde attraverso il suo contesto che però può non contenere l’informazione utile al caso Vediamo un test reale: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20040" y="107899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1" sz="8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84632" y="1709928"/>
            <a:ext cx="3840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663440" y="107899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1" sz="8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828032" y="1709928"/>
            <a:ext cx="3886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320040" y="3429000"/>
            <a:ext cx="2743200" cy="1371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57200" y="35204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🧠     Dati del Training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57200" y="3858768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Il modello conosce ciò che è presente dei dati raccolti durante la sua fase di training.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3246120" y="3429000"/>
            <a:ext cx="2743200" cy="1371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3383280" y="35204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📄     Grounding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3383280" y="3858768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RAG “costringe” ad andare a pescare la risposta dai documenti che gli vengono forniti.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172200" y="3429000"/>
            <a:ext cx="2743200" cy="1371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6309360" y="35204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🚫      Allucinazioni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309360" y="3858768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Senza RAG il modello tende a non sbilanciarsi e preferisce dire che non conosce la risposta piuttosto che inventarla.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55" y="1319023"/>
            <a:ext cx="8791493" cy="1956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82880" y="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85800" y="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Pipeline — Indicizzazione &amp; Retrieval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Due fasi distinte: prima si indicizza il documento, poi si recupera il contesto rilevante per ogni domanda. In ChromaDB viene utilizzata la cosine similarity: viene letta la domanda, si estrae il significato ,  si sceglie il chunk più rilevante, si ottiene la risposta.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82880" y="1097280"/>
            <a:ext cx="4114800" cy="320040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182880" y="1097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 — INDICIZZAZIONE  (offline)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82880" y="1444752"/>
            <a:ext cx="4114800" cy="24231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92608" y="1527048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57200" y="1527048"/>
            <a:ext cx="91440" cy="9144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621792" y="1527048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" name="Google Shape;103;p3"/>
          <p:cNvCxnSpPr/>
          <p:nvPr/>
        </p:nvCxnSpPr>
        <p:spPr>
          <a:xfrm>
            <a:off x="182880" y="1700784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/>
          <p:nvPr/>
        </p:nvSpPr>
        <p:spPr>
          <a:xfrm>
            <a:off x="347472" y="1783080"/>
            <a:ext cx="38404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Chunking del documento WiData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def chunka_testo(testo, chunk_size=400, overlap=50):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chunks, start = [], 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while start &lt; len(testo):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chunk = testo[start:start+chunk_size]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chunks.append(chunk)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start += chunk_size - overlap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return chunks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Indicizza in ChromaDB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collection.add(documents=chunks,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     ids=[str(i) for i in range(len(chunks))])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✅ Indicizzati 8 chunk in ChromaDB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370832" y="2286000"/>
            <a:ext cx="402336" cy="256032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4370832" y="2286000"/>
            <a:ext cx="4023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800600" y="1097280"/>
            <a:ext cx="4114800" cy="3200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800600" y="1097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2 — RETRIEVAL  (online, per ogni domanda)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800600" y="1444752"/>
            <a:ext cx="4114800" cy="24231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4910328" y="1527048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5074920" y="1527048"/>
            <a:ext cx="91440" cy="9144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5239512" y="1527048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3"/>
          <p:cNvCxnSpPr/>
          <p:nvPr/>
        </p:nvCxnSpPr>
        <p:spPr>
          <a:xfrm>
            <a:off x="4800600" y="1700784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4965192" y="1783080"/>
            <a:ext cx="38404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def cerca(domanda, n=2):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risultati = collection.query(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query_texts=[domanda],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n_results=n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return risultati['documents'][0]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def chat_rag(domanda):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chunks = cerca(domanda)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contesto = '\n---\n'.join(chunks)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prompt = f'Documenti:\n{contesto}\n\n{domanda}'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return chiedi_claude(prompt, system=SYSTEM)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57200" y="3977640"/>
            <a:ext cx="192024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457200" y="4023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57200" y="44805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Chunk generati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2606040" y="3977640"/>
            <a:ext cx="192024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2606040" y="4023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606040" y="44805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char per chunk (scelta personale in base alla lunghezza del testo)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754880" y="3977640"/>
            <a:ext cx="192024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4754880" y="4023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4754880" y="44805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char di overlap (permette che si eviti la perdita di informazioni)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903720" y="3977640"/>
            <a:ext cx="192024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6903720" y="4023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903720" y="44805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chunk scelti, verranno mostrati in output.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182880" y="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85800" y="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Retrieval — Chunk Recuperati e Osservazioni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ChromaDB usa similarità coseno per trovare i chunk più rilevanti. La funzione debug mostra cosa viene recuperato: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82880" y="1051560"/>
            <a:ext cx="4206240" cy="192024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292608" y="1133856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57200" y="1133856"/>
            <a:ext cx="91440" cy="9144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621792" y="1133856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4"/>
          <p:cNvCxnSpPr/>
          <p:nvPr/>
        </p:nvCxnSpPr>
        <p:spPr>
          <a:xfrm>
            <a:off x="182880" y="1307592"/>
            <a:ext cx="4206240" cy="0"/>
          </a:xfrm>
          <a:prstGeom prst="straightConnector1">
            <a:avLst/>
          </a:prstGeom>
          <a:noFill/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4"/>
          <p:cNvSpPr/>
          <p:nvPr/>
        </p:nvSpPr>
        <p:spPr>
          <a:xfrm>
            <a:off x="347472" y="1389888"/>
            <a:ext cx="39319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def chat_rag_debug(domanda):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chunks = cerca(domanda)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print(f'📄 Chunk ({len(chunks)}):')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for i, c in enumerate(chunks):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print(f'  Chunk {i+1}: {c[:200]}...')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contesto = '\n---\n'.join(chunks)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risposta = chiedi_claude(prompt, SYSTEM)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print(f'🤖 {risposta}')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572000" y="1051560"/>
            <a:ext cx="4343400" cy="192024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681728" y="1133856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4846320" y="1133856"/>
            <a:ext cx="91440" cy="9144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5010912" y="1133856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" name="Google Shape;146;p4"/>
          <p:cNvCxnSpPr/>
          <p:nvPr/>
        </p:nvCxnSpPr>
        <p:spPr>
          <a:xfrm>
            <a:off x="4572000" y="1307592"/>
            <a:ext cx="4343400" cy="0"/>
          </a:xfrm>
          <a:prstGeom prst="straightConnector1">
            <a:avLst/>
          </a:prstGeom>
          <a:noFill/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4"/>
          <p:cNvSpPr/>
          <p:nvPr/>
        </p:nvSpPr>
        <p:spPr>
          <a:xfrm>
            <a:off x="4736592" y="1389888"/>
            <a:ext cx="40690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❓ "Quali certificazioni ha il sensore XS200?"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📄 Chunk recuperati (2):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Chunk 1: Il sensore XS200 è progettato per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il monitoraggio ambientale... CE, FCC, RoHS.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Chunk 2: WiData Srl — Manuale Prodotti IoT...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🤖 Il sensore XS200 ha le certificazioni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CE, FCC e RoHS.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82880" y="3063240"/>
            <a:ext cx="877824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365760" y="310896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ChromaDB trova subito il chunk corretto tramite similarità semantica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82880" y="3657600"/>
            <a:ext cx="877824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365760" y="370332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Domande fuori documento → risposta 'Non ho questa informazione'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182880" y="4251960"/>
            <a:ext cx="877824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365760" y="429768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É richiesto un System prompt robusto per scongiurare il rischio di allucinazioni (es. info su Sassari non nel doc)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182880" y="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85800" y="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+ Conversation History — Memoria e Contesto Insieme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20040" y="658368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 combinazione di RAG e history permette conversazioni multi-turno ancorate ai documenti reali: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82880" y="1024128"/>
            <a:ext cx="4160520" cy="260604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292608" y="1106424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57200" y="1106424"/>
            <a:ext cx="91440" cy="9144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621792" y="1106424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" name="Google Shape;167;p5"/>
          <p:cNvCxnSpPr/>
          <p:nvPr/>
        </p:nvCxnSpPr>
        <p:spPr>
          <a:xfrm>
            <a:off x="182880" y="1280160"/>
            <a:ext cx="4160520" cy="0"/>
          </a:xfrm>
          <a:prstGeom prst="straightConnector1">
            <a:avLst/>
          </a:prstGeom>
          <a:noFill/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5"/>
          <p:cNvSpPr/>
          <p:nvPr/>
        </p:nvSpPr>
        <p:spPr>
          <a:xfrm>
            <a:off x="347472" y="1362456"/>
            <a:ext cx="3886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history = []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def chat_rag_con_storia(domanda):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# 1. RAG: recupera chunk rilevanti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chunks = cerca(domanda)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contesto = '\n---\n'.join(chunks)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msg = f'Documenti:\n{contesto}\n\n{domanda}'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history.append(msg)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# 2. History: passa tutta la storia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prompt = '\n---\n'.join(history)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risposta = chiedi_claude(prompt, SYSTEM)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history.append(f'Risposta: {risposta}')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return risposta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572000" y="1024128"/>
            <a:ext cx="4343400" cy="260604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681728" y="1106424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846320" y="1106424"/>
            <a:ext cx="91440" cy="9144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5010912" y="1106424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5"/>
          <p:cNvCxnSpPr/>
          <p:nvPr/>
        </p:nvCxnSpPr>
        <p:spPr>
          <a:xfrm>
            <a:off x="4572000" y="1280160"/>
            <a:ext cx="4343400" cy="0"/>
          </a:xfrm>
          <a:prstGeom prst="straightConnector1">
            <a:avLst/>
          </a:prstGeom>
          <a:noFill/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5"/>
          <p:cNvSpPr/>
          <p:nvPr/>
        </p:nvSpPr>
        <p:spPr>
          <a:xfrm>
            <a:off x="4736592" y="1362456"/>
            <a:ext cx="406908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rgbClr val="E2E8F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182880" y="3749040"/>
            <a:ext cx="4114800" cy="109728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320040" y="37947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📄     RAG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20040" y="406908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Quando servono elementi precisi dal documento.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Risponde con informazioni verificabili.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Sistema chiuso con un percorso definito.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800600" y="3749040"/>
            <a:ext cx="4114800" cy="109728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937760" y="37947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💬     History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937760" y="406908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Quando servono riferimenti al contesto precedente.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Permette conversazioni multi-turno coerenti.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297680" y="3977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773168" y="1362457"/>
            <a:ext cx="4142232" cy="2215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chat_rag_con_storia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"Sono un dipendente Widata e ti posso dire che abbiamo una seconda sede in via Cagliari 5 a Sassari"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000" u="none" cap="none" strike="noStrike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000" u="none" cap="none" strike="noStrike">
                <a:solidFill>
                  <a:srgbClr val="69A5D7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0" i="0" lang="en-US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"\n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n-US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'='</a:t>
            </a:r>
            <a:r>
              <a:rPr b="0" i="0" lang="en-US" sz="10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-US" sz="10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55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n-US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Apprezzo l'informazione, ma devo attenermi rigorosamente ai documenti ufficiali che mi sono stati forniti. Secondo la documentazione disponibile, l'unica sede di WiData Srl che posso confermare è: **Via Roma 42, Sassari (SS) 07100, Italia** Se esiste una seconda sede, questa informazione non è presente nei documenti che mi sono stati messi a disposizione.</a:t>
            </a:r>
            <a:endParaRPr b="0" i="0" sz="10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2026-06-03T20:11:35Z</dcterms:created>
  <dc:creator>Lorenzo Masia, Carlo Abis</dc:creator>
</cp:coreProperties>
</file>