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Arial Black"/>
      <p:regular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E9jNDeykrFfx1yGyXv0mrN6gF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Mono-regular.fntdata"/><Relationship Id="rId16" Type="http://schemas.openxmlformats.org/officeDocument/2006/relationships/font" Target="fonts/ArialBlack-regular.fntdata"/><Relationship Id="rId5" Type="http://schemas.openxmlformats.org/officeDocument/2006/relationships/slide" Target="slides/slide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2.xml"/><Relationship Id="rId18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2ee89490f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e2ee89490f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Fino a pochi anni fa, se volevi usare l'AI in un'applicazione dovevi fare tutto tu: raccogliere i dati, addestrare il modello, gestire l'infrastruttura GPU, validare i risultati. Era il lavoro del ML engineer, richiedeva mesi e competenze molto specializzate.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L'AI Engineering parte da una premessa diversa: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 modelli esistono già, sono potenti, e sono accessibili via API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Il tuo lavoro non è costruire il motore — è costruire la macchina intorno al motore.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 pratica questo significa: sai fare chiamate HTTP? Sai scrivere Python? Puoi già costruire applicazioni AI reali. La barriera d'ingresso si è abbassata enormemente.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Chip Huyen nel libro lo definisce così: l'AI engineer prende foundation model già addestrati e li adatta a casi d'uso specifici attraverso prompt engineering, RAG, tool use, e fine-tuning solo quando strettamente necessario. È una figura nuova, a metà tra il software engineer tradizionale e il data scientist, e in questo momento è una delle più richieste sul mercato.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Analogia utile per gli studenti: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un cuoco non costruisce il forno. Lo usa, sa come sfruttarlo al meglio, conosce le temperature giuste per ogni piatto. Voi siete i cuochi, Claude è il forno.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e2ee89490f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c94ae58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1c94ae58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Il Framework Crawl–Walk–Run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È un framework di Microsoft citato da Huyen per descrivere i tre livelli di autonomia che puoi dare all'AI nella tua applicazione. È molto utile per capire dove si posiziona quello che stai costruendo e quali rischi comporta.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Crawl — L'AI assiste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L'AI suggerisce, l'umano decide sempre. L'output dell'AI non va mai direttamente in produzione senza revisione umana. Esempi: autocomplete nel codice (GitHub Copilot), un chatbot FAQ che risponde ma l'utente legge e valuta, un sistema che propone bozze di email. Il rischio è basso perché c'è sempre un umano nel loop.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Walk — L'AI esegue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L'AI completa task completi, ma con supervisione. Gli output vengono revisionati a campione, non uno per uno. Esempi: un chatbot RAG che risponde alle domande dei clienti, un sistema che genera report da dati strutturati. Il rischio cresce — una hallucination che passa inosservata può fare danni.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Run — L'AI decide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L'AI agisce in autonomia su task ad alto impatto, senza approvazione umana per ogni azione. Esempi: un agente che prenota viaggi, invia email, esegue codice. L'umano supervisiona ex-post o solo in caso di eccezioni. Il rischio è alto — serve molta fiducia nel sistema e guardrails robusti.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Perché è utile in aula: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chiedi agli studenti di classificare le app AI che usano ogni giorno. ChatGPT per scrivere un testo? Crawl — lo rileggono e modificano. Un filtro antispam? Run — agisce in autonomia su ogni email. Crea subito discussione e fa capire che "usare l'AI" non è una cosa sola.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Dove si posiziona il nostro chatbot: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alla fine del corso arriverete a zona Walk — il chatbot risponde in autonomia, ma voi come sviluppatori monitorate i log e valutate la qualità. La Lezione 5 con gli Agents vi darà un assaggio di cosa significa avvicinarsi a Run.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1c94ae58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La parte superiore — il flusso in 4 step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È un diagramma che mostra cosa succede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dentro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al modello quando scrivi qualcosa. L'obiettivo non è essere precisi tecnicamente, ma dare agli studenti un modello mentale utile.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INPUT → TOKEN → PREDICT → OUTPUT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1. INPUT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il tuo testo grezzo. Scrivi "Ciao, come stai?" e questo entra nel sistema.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2. TOKEN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il testo viene spezzato in pezzi chiamati token. Non sono parole intere: "Ciao" è un token, la virgola è un token separato, "come" è un token. In italiano e altre lingue non inglesi i token sono generalmente più corti che in inglese, quindi la stessa frase consuma più token — e quindi costa di più.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Una buona analogia: immagina di spedire una lettera ma devi usare francobolli di dimensione fissa. Non importa quante parole hai, paghi per quanti francobolli usi. I token sono i francobolli.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3. PREDICT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questo è il cuore del modello. Per ogni token, il modello calcola la probabilità di tutti i token possibili che potrebbero venire dopo, e ne sceglie uno. Il dado nella slide non è casuale come scelta grafica: c'è davvero un elemento probabilistico, controllato dalla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temperature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Con temperature=0 sceglie sempre il token più probabile. Con temperature=1 campiona dalla distribuzione — quindi anche token meno probabili possono essere scelti.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4. OUTPUT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il modello genera un token alla volta, e ogni token generato viene aggiunto all'input per predire il successivo. Non "pensa" tutta la risposta in anticipo e poi la scrive — la costruisce pezzo per pezzo, un token dopo l'altro. Questo spiega perché lo streaming (vedere le parole apparire man mano) non è solo estetico: è letteralmente come funziona la generazione.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La parte inferiore — 3 concetti chiave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Questi tre box sono i concetti pratici che gli studenti useranno ogni volta che scrivono codice nel corso.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🌡 Temperature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già spiegato sopra. Da enfatizzare in aula: mostra dal vivo la differenza tra 0 e 1 sulla stessa domanda. La reazione degli studenti è sempre forte quando vedono quanto cambiano le risposte.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🪟 Context Window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tutto ciò che il modello "vede" in un dato momento. È il limite fisico della sua memoria di lavoro. Quello che non è nella finestra non esiste per lui — non lo ricorda, non può usarlo. Questo ha conseguenze pratiche immediate: se una conversazione diventa troppo lunga, i messaggi vecchi cadono fuori dalla finestra e il modello "dimentica" cosa si è detto all'inizio. La Lezione 3 affronta esattamente questo problema.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Hallucination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il modello non "sa" cose nel senso umano. Genera token probabilisticamente plausibili. Se gli chiedi qualcosa che non è nel suo training, invece di dire "non lo so" può generare una risposta che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suona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corretta ma è inventata. È il problema più importante da far capire agli studenti perché li porta a capire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perché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faremo RAG nella Lezione 4 — non è una feature fancy, è la soluzione a un problema reale.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Setup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Fondamenta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383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 Engineering — Lezione 1 di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📅  Martedì 19/05/2026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⏱  5 ore  •  Monte ore: 5/30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🐍  Python  •  Anthropic Claude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Cosa facciamo oggi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28600" y="10058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960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63040" y="9418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Intro: cos'è l'AI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Framework Crawl-Walk-Run (Huyen Cap.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169164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46304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Come funziona un LLM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18745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Intuizione pratica, senza matematica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23774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10:30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2313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Setup ambiente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3040" y="25603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pyenv · venv · VS Code · Jupyter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" y="306324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63040" y="29992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Prima chiamata a Claude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API key · HTTP · JSON · Anthropic SDK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28600" y="3749040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3703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12:30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63040" y="3685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Esercizi liberi + wrap-up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39319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Temperature, parametri,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914400"/>
            <a:ext cx="2468880" cy="34747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🎯 Deliverable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9224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Script Python che invia una domanda a Claude e stampa la risposta formattata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92240" y="3200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📖 Leggi prima: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Huyen Cap. 1 + Cap. 2 (parz.)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2ee89490f_2_0"/>
          <p:cNvSpPr/>
          <p:nvPr/>
        </p:nvSpPr>
        <p:spPr>
          <a:xfrm>
            <a:off x="457200" y="27432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ML Engineering vs AI Engineering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2ee89490f_2_0"/>
          <p:cNvSpPr/>
          <p:nvPr/>
        </p:nvSpPr>
        <p:spPr>
          <a:xfrm>
            <a:off x="457200" y="8503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Huyen Cap. 1 — perché il panorama è cambiato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e2ee89490f_2_0"/>
          <p:cNvSpPr/>
          <p:nvPr/>
        </p:nvSpPr>
        <p:spPr>
          <a:xfrm>
            <a:off x="320040" y="1234440"/>
            <a:ext cx="4251900" cy="3566100"/>
          </a:xfrm>
          <a:prstGeom prst="rect">
            <a:avLst/>
          </a:prstGeom>
          <a:solidFill>
            <a:srgbClr val="5A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2ee89490f_2_0"/>
          <p:cNvSpPr/>
          <p:nvPr/>
        </p:nvSpPr>
        <p:spPr>
          <a:xfrm>
            <a:off x="320040" y="1234440"/>
            <a:ext cx="425190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2ee89490f_2_0"/>
          <p:cNvSpPr/>
          <p:nvPr/>
        </p:nvSpPr>
        <p:spPr>
          <a:xfrm>
            <a:off x="411480" y="1280160"/>
            <a:ext cx="406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🔬  ML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e2ee89490f_2_0"/>
          <p:cNvSpPr/>
          <p:nvPr/>
        </p:nvSpPr>
        <p:spPr>
          <a:xfrm>
            <a:off x="457200" y="178308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Raccogliere e pulire dataset enormi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e2ee89490f_2_0"/>
          <p:cNvSpPr/>
          <p:nvPr/>
        </p:nvSpPr>
        <p:spPr>
          <a:xfrm>
            <a:off x="457200" y="2212848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Progettare l'architettura del modello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e2ee89490f_2_0"/>
          <p:cNvSpPr/>
          <p:nvPr/>
        </p:nvSpPr>
        <p:spPr>
          <a:xfrm>
            <a:off x="457200" y="2642616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Addestrare su GPU per giorni/settimane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e2ee89490f_2_0"/>
          <p:cNvSpPr/>
          <p:nvPr/>
        </p:nvSpPr>
        <p:spPr>
          <a:xfrm>
            <a:off x="457200" y="3072384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Ottimizzare iperparametri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2ee89490f_2_0"/>
          <p:cNvSpPr/>
          <p:nvPr/>
        </p:nvSpPr>
        <p:spPr>
          <a:xfrm>
            <a:off x="457200" y="3502152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Deploy e monitoring del modello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e2ee89490f_2_0"/>
          <p:cNvSpPr/>
          <p:nvPr/>
        </p:nvSpPr>
        <p:spPr>
          <a:xfrm>
            <a:off x="457200" y="393192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  Richede: matematica avanzata, GPU, mesi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2ee89490f_2_0"/>
          <p:cNvSpPr/>
          <p:nvPr/>
        </p:nvSpPr>
        <p:spPr>
          <a:xfrm>
            <a:off x="4754880" y="1234440"/>
            <a:ext cx="4251900" cy="3566100"/>
          </a:xfrm>
          <a:prstGeom prst="rect">
            <a:avLst/>
          </a:prstGeom>
          <a:solidFill>
            <a:srgbClr val="0A3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2ee89490f_2_0"/>
          <p:cNvSpPr/>
          <p:nvPr/>
        </p:nvSpPr>
        <p:spPr>
          <a:xfrm>
            <a:off x="4754880" y="1234440"/>
            <a:ext cx="4251900" cy="457200"/>
          </a:xfrm>
          <a:prstGeom prst="rect">
            <a:avLst/>
          </a:prstGeom>
          <a:solidFill>
            <a:srgbClr val="0A5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e2ee89490f_2_0"/>
          <p:cNvSpPr/>
          <p:nvPr/>
        </p:nvSpPr>
        <p:spPr>
          <a:xfrm>
            <a:off x="4846320" y="1280160"/>
            <a:ext cx="406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🔧  AI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e2ee89490f_2_0"/>
          <p:cNvSpPr/>
          <p:nvPr/>
        </p:nvSpPr>
        <p:spPr>
          <a:xfrm>
            <a:off x="4892040" y="178308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Usare modelli già addestrati via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2ee89490f_2_0"/>
          <p:cNvSpPr/>
          <p:nvPr/>
        </p:nvSpPr>
        <p:spPr>
          <a:xfrm>
            <a:off x="4892040" y="2212848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Progettare prompt e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e2ee89490f_2_0"/>
          <p:cNvSpPr/>
          <p:nvPr/>
        </p:nvSpPr>
        <p:spPr>
          <a:xfrm>
            <a:off x="4892040" y="2642616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Costruire RAG, tool, agenti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e2ee89490f_2_0"/>
          <p:cNvSpPr/>
          <p:nvPr/>
        </p:nvSpPr>
        <p:spPr>
          <a:xfrm>
            <a:off x="4892040" y="3072384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Valutare e migliorare il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e2ee89490f_2_0"/>
          <p:cNvSpPr/>
          <p:nvPr/>
        </p:nvSpPr>
        <p:spPr>
          <a:xfrm>
            <a:off x="4892040" y="3502152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Deploy dell'applicazione in giorni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e2ee89490f_2_0"/>
          <p:cNvSpPr/>
          <p:nvPr/>
        </p:nvSpPr>
        <p:spPr>
          <a:xfrm>
            <a:off x="4892040" y="3931920"/>
            <a:ext cx="3977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  Richiede: Python, creatività, giorni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e2ee89490f_2_0"/>
          <p:cNvSpPr/>
          <p:nvPr/>
        </p:nvSpPr>
        <p:spPr>
          <a:xfrm>
            <a:off x="320040" y="4828032"/>
            <a:ext cx="8503800" cy="2013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2ee89490f_2_0"/>
          <p:cNvSpPr/>
          <p:nvPr/>
        </p:nvSpPr>
        <p:spPr>
          <a:xfrm>
            <a:off x="411480" y="4846320"/>
            <a:ext cx="8321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Oggi: il motore è già costruito. Il tuo lavoro è costruire la macchina intorno.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1c94ae581_0_0"/>
          <p:cNvSpPr/>
          <p:nvPr/>
        </p:nvSpPr>
        <p:spPr>
          <a:xfrm>
            <a:off x="457200" y="25603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Crawl — Walk — Run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e1c94ae581_0_0"/>
          <p:cNvSpPr/>
          <p:nvPr/>
        </p:nvSpPr>
        <p:spPr>
          <a:xfrm>
            <a:off x="344301" y="4413084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Huyen Cap. 1 — quanto autonomia diamo all'AI?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e1c94ae581_0_0"/>
          <p:cNvSpPr/>
          <p:nvPr/>
        </p:nvSpPr>
        <p:spPr>
          <a:xfrm>
            <a:off x="320050" y="1005849"/>
            <a:ext cx="2697600" cy="335790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1c94ae581_0_0"/>
          <p:cNvSpPr/>
          <p:nvPr/>
        </p:nvSpPr>
        <p:spPr>
          <a:xfrm>
            <a:off x="320040" y="1005840"/>
            <a:ext cx="2697600" cy="457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1c94ae581_0_0"/>
          <p:cNvSpPr/>
          <p:nvPr/>
        </p:nvSpPr>
        <p:spPr>
          <a:xfrm>
            <a:off x="411480" y="1042416"/>
            <a:ext cx="251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🐛  CRAWL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e1c94ae581_0_0"/>
          <p:cNvSpPr/>
          <p:nvPr/>
        </p:nvSpPr>
        <p:spPr>
          <a:xfrm>
            <a:off x="411480" y="1536192"/>
            <a:ext cx="251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L'AI suggerisce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L'umano 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g3e1c94ae581_0_0"/>
          <p:cNvCxnSpPr/>
          <p:nvPr/>
        </p:nvCxnSpPr>
        <p:spPr>
          <a:xfrm>
            <a:off x="502920" y="2103120"/>
            <a:ext cx="2331600" cy="0"/>
          </a:xfrm>
          <a:prstGeom prst="straightConnector1">
            <a:avLst/>
          </a:prstGeom>
          <a:noFill/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e1c94ae581_0_0"/>
          <p:cNvSpPr/>
          <p:nvPr/>
        </p:nvSpPr>
        <p:spPr>
          <a:xfrm>
            <a:off x="411480" y="2176272"/>
            <a:ext cx="251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L'AI produce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che un umano approva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prima di usare.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quasi zero.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1c94ae581_0_0"/>
          <p:cNvSpPr/>
          <p:nvPr/>
        </p:nvSpPr>
        <p:spPr>
          <a:xfrm>
            <a:off x="411480" y="333756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e1c94ae581_0_0"/>
          <p:cNvSpPr/>
          <p:nvPr/>
        </p:nvSpPr>
        <p:spPr>
          <a:xfrm>
            <a:off x="777240" y="3310128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Correttore ortografico,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suggested reply,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bozza email da revisionare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1c94ae581_0_0"/>
          <p:cNvSpPr/>
          <p:nvPr/>
        </p:nvSpPr>
        <p:spPr>
          <a:xfrm>
            <a:off x="3200400" y="1005849"/>
            <a:ext cx="2697600" cy="3357900"/>
          </a:xfrm>
          <a:prstGeom prst="rect">
            <a:avLst/>
          </a:prstGeom>
          <a:solidFill>
            <a:srgbClr val="E8F8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1c94ae581_0_0"/>
          <p:cNvSpPr/>
          <p:nvPr/>
        </p:nvSpPr>
        <p:spPr>
          <a:xfrm>
            <a:off x="3200400" y="1005840"/>
            <a:ext cx="269760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1c94ae581_0_0"/>
          <p:cNvSpPr/>
          <p:nvPr/>
        </p:nvSpPr>
        <p:spPr>
          <a:xfrm>
            <a:off x="3291840" y="1042416"/>
            <a:ext cx="251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🚶  WALK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e1c94ae581_0_0"/>
          <p:cNvSpPr/>
          <p:nvPr/>
        </p:nvSpPr>
        <p:spPr>
          <a:xfrm>
            <a:off x="3291840" y="1536192"/>
            <a:ext cx="251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L'AI esegue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Sotto supervisione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g3e1c94ae581_0_0"/>
          <p:cNvCxnSpPr/>
          <p:nvPr/>
        </p:nvCxnSpPr>
        <p:spPr>
          <a:xfrm>
            <a:off x="3383280" y="2103120"/>
            <a:ext cx="233160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g3e1c94ae581_0_0"/>
          <p:cNvSpPr/>
          <p:nvPr/>
        </p:nvSpPr>
        <p:spPr>
          <a:xfrm>
            <a:off x="3291840" y="2176272"/>
            <a:ext cx="251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L'AI compie 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complete ma qualcuno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monitora i risultati.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basso.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1c94ae581_0_0"/>
          <p:cNvSpPr/>
          <p:nvPr/>
        </p:nvSpPr>
        <p:spPr>
          <a:xfrm>
            <a:off x="3291840" y="333756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e1c94ae581_0_0"/>
          <p:cNvSpPr/>
          <p:nvPr/>
        </p:nvSpPr>
        <p:spPr>
          <a:xfrm>
            <a:off x="3657600" y="3310128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Il nostro chatbot WiData,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ricerca automatica,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chatbot con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1c94ae581_0_0"/>
          <p:cNvSpPr/>
          <p:nvPr/>
        </p:nvSpPr>
        <p:spPr>
          <a:xfrm>
            <a:off x="6080750" y="1005850"/>
            <a:ext cx="2697600" cy="33579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1c94ae581_0_0"/>
          <p:cNvSpPr/>
          <p:nvPr/>
        </p:nvSpPr>
        <p:spPr>
          <a:xfrm>
            <a:off x="6080760" y="1005840"/>
            <a:ext cx="26976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1c94ae581_0_0"/>
          <p:cNvSpPr/>
          <p:nvPr/>
        </p:nvSpPr>
        <p:spPr>
          <a:xfrm>
            <a:off x="6172200" y="1042416"/>
            <a:ext cx="2514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🏃 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e1c94ae581_0_0"/>
          <p:cNvSpPr/>
          <p:nvPr/>
        </p:nvSpPr>
        <p:spPr>
          <a:xfrm>
            <a:off x="6172200" y="1536192"/>
            <a:ext cx="251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L'AI agisce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 autonomia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g3e1c94ae581_0_0"/>
          <p:cNvCxnSpPr/>
          <p:nvPr/>
        </p:nvCxnSpPr>
        <p:spPr>
          <a:xfrm>
            <a:off x="6263640" y="2103120"/>
            <a:ext cx="233160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g3e1c94ae581_0_0"/>
          <p:cNvSpPr/>
          <p:nvPr/>
        </p:nvSpPr>
        <p:spPr>
          <a:xfrm>
            <a:off x="6172200" y="2176272"/>
            <a:ext cx="251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L'AI prende decisioni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 agisce senza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controllo umano diretto.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alto.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e1c94ae581_0_0"/>
          <p:cNvSpPr/>
          <p:nvPr/>
        </p:nvSpPr>
        <p:spPr>
          <a:xfrm>
            <a:off x="6172200" y="333756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e1c94ae581_0_0"/>
          <p:cNvSpPr/>
          <p:nvPr/>
        </p:nvSpPr>
        <p:spPr>
          <a:xfrm>
            <a:off x="6537960" y="3310128"/>
            <a:ext cx="214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Agente che invia email,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che fa acquisti,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che gestisce sistemi critici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1c94ae581_0_0"/>
          <p:cNvSpPr/>
          <p:nvPr/>
        </p:nvSpPr>
        <p:spPr>
          <a:xfrm>
            <a:off x="320040" y="5010912"/>
            <a:ext cx="8458200" cy="36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1c94ae581_0_0"/>
          <p:cNvSpPr/>
          <p:nvPr/>
        </p:nvSpPr>
        <p:spPr>
          <a:xfrm>
            <a:off x="320040" y="4718304"/>
            <a:ext cx="8458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📍  Il nostro chatbot finale si posizionerà in zona WALK — agisce ma il docente monitora.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Come funziona un LLM?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Intuizione pratica — Huyen Cap. 2 (senza matematica!)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63332" y="1188720"/>
            <a:ext cx="2011800" cy="2560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63332" y="1280160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63332" y="182880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54772" y="21945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tuo testo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"Ciao, come stai?"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449332" y="1188720"/>
            <a:ext cx="2011800" cy="2560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2449332" y="1280160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449332" y="182880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540772" y="21945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Pezzi di testo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["Ciao",","," come",...]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735332" y="1188720"/>
            <a:ext cx="2011800" cy="2560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735332" y="1280160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35332" y="182880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826772" y="21945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Probabilità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sul token successivo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7021332" y="1188720"/>
            <a:ext cx="2011800" cy="2560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021332" y="1280160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021332" y="182880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12772" y="2194560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Testo generato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token per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82949" y="3931920"/>
            <a:ext cx="2743200" cy="914400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57200" y="40050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🌡 Temperature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74389" y="4279392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0 = deterministico, 1 = creativo. Noi useremo 0.7 di default.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9029" y="3931920"/>
            <a:ext cx="2743200" cy="914400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383280" y="40050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🪟 Context Window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300469" y="4279392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Tutto ciò che il modello 'vede'. Quello che è fuori non esiste.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135109" y="3931920"/>
            <a:ext cx="2743200" cy="914400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309360" y="40050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😵 Hallucination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226549" y="4279392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modello inventa fatti plausibili ma falsi. RAG è la soluzione.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09365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37965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673315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Setup dell'ambiente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Installiamo tutto insieme — segui passo per passo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1234440"/>
            <a:ext cx="4114800" cy="1737360"/>
          </a:xfrm>
          <a:prstGeom prst="rect">
            <a:avLst/>
          </a:prstGeom>
          <a:solidFill>
            <a:srgbClr val="0A3A5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65760" y="1234440"/>
            <a:ext cx="457200" cy="1737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657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914400" y="13075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3.11+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14400" y="16184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python --version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14400" y="26517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Verifica l'installazione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4880" y="1234440"/>
            <a:ext cx="4114800" cy="1737360"/>
          </a:xfrm>
          <a:prstGeom prst="rect">
            <a:avLst/>
          </a:prstGeom>
          <a:solidFill>
            <a:srgbClr val="0A3A5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754880" y="1234440"/>
            <a:ext cx="457200" cy="1737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303520" y="13075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Environment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303520" y="161848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python -m venv venv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source venv/bin/activate  # Mac/Linux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venv\Scripts\activate     # Windows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303520" y="26517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Isola le dipendenze del progetto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65760" y="3108960"/>
            <a:ext cx="4114800" cy="1737360"/>
          </a:xfrm>
          <a:prstGeom prst="rect">
            <a:avLst/>
          </a:prstGeom>
          <a:solidFill>
            <a:srgbClr val="0A3A5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65760" y="3108960"/>
            <a:ext cx="457200" cy="1737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36576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14400" y="31821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Installa SDK Anthropic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14400" y="349300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pip install anthropic python-dotenv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14400" y="45262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Il client ufficiale per l'API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754880" y="3108960"/>
            <a:ext cx="4114800" cy="1737360"/>
          </a:xfrm>
          <a:prstGeom prst="rect">
            <a:avLst/>
          </a:prstGeom>
          <a:solidFill>
            <a:srgbClr val="0A3A5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754880" y="3108960"/>
            <a:ext cx="457200" cy="1737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754880" y="3703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303520" y="31821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Key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303520" y="3493008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# Crea .env nella cartella del progetto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ANTHROPIC_API_KEY=sk-ant-...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303520" y="45262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Non committare mai la chiave su GitHub!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La prima chiamata all'API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Il codice più importante del corso — capirlo bene è tutto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760" y="1097280"/>
            <a:ext cx="5303520" cy="374904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02920" y="1188720"/>
            <a:ext cx="5120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anthropic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10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dotenv </a:t>
            </a:r>
            <a:r>
              <a:rPr b="1" i="0" lang="en-US" sz="110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load_dotenv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load_dotenv()</a:t>
            </a:r>
            <a:br>
              <a:rPr b="0" i="0" lang="en-US" sz="11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client = anthropic.Anthropic()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message = client.messages.create(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model=</a:t>
            </a:r>
            <a:r>
              <a:rPr b="0" i="0" lang="en-US" sz="11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"claude-sonnet-4-5"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max_tokens=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1024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messages=[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{"role": </a:t>
            </a:r>
            <a:r>
              <a:rPr b="0" i="0" lang="en-US" sz="11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 "Ciao! Chi sei?"}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(message.content[</a:t>
            </a:r>
            <a:r>
              <a:rPr b="0" i="0" lang="en-US" sz="110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].text)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7"/>
          <p:cNvCxnSpPr/>
          <p:nvPr/>
        </p:nvCxnSpPr>
        <p:spPr>
          <a:xfrm>
            <a:off x="5687568" y="155448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0" name="Google Shape;190;p7"/>
          <p:cNvSpPr/>
          <p:nvPr/>
        </p:nvSpPr>
        <p:spPr>
          <a:xfrm>
            <a:off x="6080760" y="1426464"/>
            <a:ext cx="2834640" cy="292608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126480" y="14630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① Carica la API key dal file .env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7"/>
          <p:cNvCxnSpPr/>
          <p:nvPr/>
        </p:nvCxnSpPr>
        <p:spPr>
          <a:xfrm>
            <a:off x="5687568" y="20574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3" name="Google Shape;193;p7"/>
          <p:cNvSpPr/>
          <p:nvPr/>
        </p:nvSpPr>
        <p:spPr>
          <a:xfrm>
            <a:off x="6080760" y="1929384"/>
            <a:ext cx="2834640" cy="292608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126480" y="1965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② Crea il client Anthropic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7"/>
          <p:cNvCxnSpPr/>
          <p:nvPr/>
        </p:nvCxnSpPr>
        <p:spPr>
          <a:xfrm>
            <a:off x="5687568" y="25146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6" name="Google Shape;196;p7"/>
          <p:cNvSpPr/>
          <p:nvPr/>
        </p:nvSpPr>
        <p:spPr>
          <a:xfrm>
            <a:off x="6080760" y="2386584"/>
            <a:ext cx="2834640" cy="292608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126480" y="24231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③ Scegli il modello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7"/>
          <p:cNvCxnSpPr/>
          <p:nvPr/>
        </p:nvCxnSpPr>
        <p:spPr>
          <a:xfrm>
            <a:off x="5687568" y="320040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9" name="Google Shape;199;p7"/>
          <p:cNvSpPr/>
          <p:nvPr/>
        </p:nvSpPr>
        <p:spPr>
          <a:xfrm>
            <a:off x="6080760" y="3072384"/>
            <a:ext cx="2834640" cy="292608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126480" y="310896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④ Il messaggio dell'utente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7"/>
          <p:cNvCxnSpPr/>
          <p:nvPr/>
        </p:nvCxnSpPr>
        <p:spPr>
          <a:xfrm>
            <a:off x="5687568" y="4434840"/>
            <a:ext cx="36576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2" name="Google Shape;202;p7"/>
          <p:cNvSpPr/>
          <p:nvPr/>
        </p:nvSpPr>
        <p:spPr>
          <a:xfrm>
            <a:off x="6080760" y="4306824"/>
            <a:ext cx="2834640" cy="292608"/>
          </a:xfrm>
          <a:prstGeom prst="rect">
            <a:avLst/>
          </a:prstGeom>
          <a:solidFill>
            <a:srgbClr val="EDF6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126480" y="434340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⑤ Stampa il testo della risposta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Parametri chiave dell'API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75488" y="1078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02920" y="14813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claude-sonnet-4-5 (default)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02920" y="1874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claude-opus-4-5 (più potente, costoso)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02920" y="22677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claude-haiku-4-5 (più veloce, economico)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864608" y="1078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max_tokens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892040" y="14813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Lunghezza max della risposta in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892040" y="1874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1024 = ~750 parole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892040" y="22677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Più alto = più costoso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65760" y="2926080"/>
            <a:ext cx="411480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75488" y="29992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temperature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02920" y="34015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0.0 = risposta sempre uguale (es. codice)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37947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0.7 = bilanciato (default)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02920" y="41879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1.0 = creativo/imprevedibile (es. poesia)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754880" y="2926080"/>
            <a:ext cx="4114800" cy="1783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864608" y="29992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892040" y="34015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Definisce la 'personalità' del chatbot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92040" y="37947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Es: 'Sei un assistente tecnico...'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92040" y="418795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È la base del prompt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5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💻 Laboratorio — Esercizi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Lavora a coppie — chiedi aiuto senza esitare!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02412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Hello Claude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2412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★☆☆ 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7548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Esegui il codice della slide precedente. Funziona?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Modifica la domanda con qualcosa di tuo.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41324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Sperimenta la temperature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1324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86460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Chiedi la stessa cosa con temperature=0 e temperature=1.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Osserva le differenze.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02412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2412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7548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Aggiungi system="Rispondi solo in rima".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Chiedi qualcosa di normale e osserva.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41324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tuo chatbot 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541324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★★★  Avanzato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86460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Crea uno script che chiede nome all'utente e poi risponde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in modo personalizzato. Salva su GitHub.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GitHub — il tuo portfolio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Ogni deliverable che farai andrà qui. Al termine del corso avrai un portfolio reale.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📁 chatbot-ias/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DDFF"/>
                </a:solidFill>
                <a:latin typeface="Consolas"/>
                <a:ea typeface="Consolas"/>
                <a:cs typeface="Consolas"/>
                <a:sym typeface="Consolas"/>
              </a:rPr>
              <a:t>├── 📁 lezione1/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02920" y="1901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│   ├── hello_claude.py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02920" y="22037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│   ├── esercizi.ipynb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02920" y="25054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│   └── .env.example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02920" y="2807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├── 📁 lezione2/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502920" y="3108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│   └──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02920" y="34107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├── 📁 progetto_finale/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02920" y="3712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│   └──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02920" y="40142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├── README.md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502920" y="4315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BBCC"/>
                </a:solidFill>
                <a:latin typeface="Consolas"/>
                <a:ea typeface="Consolas"/>
                <a:cs typeface="Consolas"/>
                <a:sym typeface="Consolas"/>
              </a:rPr>
              <a:t>└── requirements.txt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72000" y="1143000"/>
            <a:ext cx="4297680" cy="10515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663440" y="1280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257800" y="1216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MAI committare la .env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5257800" y="152704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Aggiungi .env al file .gitignore. La API key deve restare privata.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0" y="2331720"/>
            <a:ext cx="4297680" cy="10515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66344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257800" y="24048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README leggibile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257800" y="271576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Spiega cosa fa il tuo script in 3-4 righe. Stai parlando a un futuro datore di lavoro.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572000" y="3520440"/>
            <a:ext cx="4297680" cy="105156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4663440" y="3657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257800" y="35935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Commit frequenti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257800" y="390448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Un commit = una feature. Messaggio chiaro: 'Add streaming support'.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Wrap-up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Cosa hai imparato oggi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Ambiente Python operativo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Differenza ML Eng vs AI Eng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Crawl-Walk-Run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 funziona un LLM (intuizione)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Chiamata API ad Anthropic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Parametri: model, temperature,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Progetto su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Deliverable da consegnare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846320" y="144475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 Python funzionante che: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Carica la key da .env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Chiede una domanda a Claude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Stampa la risposta formattata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Pushato su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Prima della Lezione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Leggi Huyen Cap.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"Prompt Engineering"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Giovedì 21/05 costruiamo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il tuo primo prompt system!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2026-04-29T07:30:31Z</dcterms:created>
  <dc:creator>Marco Uras</dc:creator>
</cp:coreProperties>
</file>