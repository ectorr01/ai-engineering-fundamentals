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zvTX4hv2zzlqtFEOYzn3ZT/yh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9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9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p9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9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9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9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9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9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9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9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9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9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9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9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9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9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9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9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9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9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9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9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9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9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9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9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9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9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9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9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9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9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9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9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9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0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51" name="Google Shape;51;p10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10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10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" name="Google Shape;54;p10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10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10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10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10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10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0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0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3" name="Google Shape;63;p10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64" name="Google Shape;64;p10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10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0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67;p10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10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10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" name="Google Shape;71;p10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10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0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0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0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10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10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0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0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1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1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1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1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2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1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1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1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1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4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5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14" name="Google Shape;114;p15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5" name="Google Shape;115;p15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15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19" name="Google Shape;119;p15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" name="Google Shape;122;p15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15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5" name="Google Shape;125;p15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1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16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16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7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17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8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8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18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18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18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18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8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8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8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8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8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18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8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8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18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8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8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" name="Google Shape;178;p18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8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8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8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8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" name="Google Shape;184;p18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8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8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8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8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18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8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8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8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8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18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8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8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8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198;p18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8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8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8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18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8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18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8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8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8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8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8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18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8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8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8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8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18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8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8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8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18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8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8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8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8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18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8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8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8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18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8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18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8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18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8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8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8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18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8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8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8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8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18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8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8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18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8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18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18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8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18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8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ctrTitle"/>
          </p:nvPr>
        </p:nvSpPr>
        <p:spPr>
          <a:xfrm>
            <a:off x="886800" y="1828800"/>
            <a:ext cx="734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" sz="2100"/>
              <a:t>Laboratorio pratico</a:t>
            </a:r>
            <a:endParaRPr sz="2100"/>
          </a:p>
        </p:txBody>
      </p:sp>
      <p:sp>
        <p:nvSpPr>
          <p:cNvPr id="278" name="Google Shape;278;p1"/>
          <p:cNvSpPr txBox="1"/>
          <p:nvPr>
            <p:ph idx="1" type="subTitle"/>
          </p:nvPr>
        </p:nvSpPr>
        <p:spPr>
          <a:xfrm>
            <a:off x="914100" y="2450100"/>
            <a:ext cx="7086900" cy="28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 sz="1400"/>
              <a:t>Tecniche di prompt engineering: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/>
              <a:t>Zero-Shot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/>
              <a:t>Few-Shot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/>
              <a:t>Chain-of-Thought (CoT)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 sz="1400"/>
              <a:t>Applicazione delle tecniche a compiti di classificazione del sentiment e risoluzione di problemi logici/matematici.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 sz="1400"/>
              <a:t>Esplorazione e confronto dei tre approcci.</a:t>
            </a:r>
            <a:endParaRPr sz="1400"/>
          </a:p>
        </p:txBody>
      </p:sp>
      <p:sp>
        <p:nvSpPr>
          <p:cNvPr id="279" name="Google Shape;279;p1"/>
          <p:cNvSpPr txBox="1"/>
          <p:nvPr>
            <p:ph type="ctrTitle"/>
          </p:nvPr>
        </p:nvSpPr>
        <p:spPr>
          <a:xfrm>
            <a:off x="838200" y="381000"/>
            <a:ext cx="4255500" cy="12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PROMPT ENGINEERING</a:t>
            </a:r>
            <a:endParaRPr/>
          </a:p>
        </p:txBody>
      </p:sp>
      <p:sp>
        <p:nvSpPr>
          <p:cNvPr id="280" name="Google Shape;280;p1"/>
          <p:cNvSpPr txBox="1"/>
          <p:nvPr>
            <p:ph idx="1" type="subTitle"/>
          </p:nvPr>
        </p:nvSpPr>
        <p:spPr>
          <a:xfrm>
            <a:off x="5421900" y="304800"/>
            <a:ext cx="28839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>
                <a:solidFill>
                  <a:schemeClr val="accent4"/>
                </a:solidFill>
              </a:rPr>
              <a:t>GRUPPO A :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>
                <a:solidFill>
                  <a:schemeClr val="accent4"/>
                </a:solidFill>
              </a:rPr>
              <a:t>Lorenzo Masia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>
                <a:solidFill>
                  <a:schemeClr val="accent4"/>
                </a:solidFill>
              </a:rPr>
              <a:t>Carlo Abis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>
                <a:solidFill>
                  <a:schemeClr val="accent4"/>
                </a:solidFill>
              </a:rPr>
              <a:t>Jacopo Zucca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>
                <a:solidFill>
                  <a:schemeClr val="accent4"/>
                </a:solidFill>
              </a:rPr>
              <a:t>Giulia Petruso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"/>
          <p:cNvSpPr txBox="1"/>
          <p:nvPr>
            <p:ph type="ctrTitle"/>
          </p:nvPr>
        </p:nvSpPr>
        <p:spPr>
          <a:xfrm>
            <a:off x="205425" y="154700"/>
            <a:ext cx="73428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it"/>
              <a:t>Zero-Shot VS Few-Shot</a:t>
            </a:r>
            <a:endParaRPr/>
          </a:p>
        </p:txBody>
      </p:sp>
      <p:sp>
        <p:nvSpPr>
          <p:cNvPr id="286" name="Google Shape;286;p2"/>
          <p:cNvSpPr txBox="1"/>
          <p:nvPr>
            <p:ph idx="1" type="subTitle"/>
          </p:nvPr>
        </p:nvSpPr>
        <p:spPr>
          <a:xfrm>
            <a:off x="205425" y="1533150"/>
            <a:ext cx="3824100" cy="28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ZERO-SHOT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-Il modello riceve solo l’istruzione, senza esempi.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-Risposte più lunghe, meno controllate e con formato variabile.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FEW-SHOT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-Il modello imita lo stile degli esempi forniti.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-Risposte più brevi, coerenti e stabili.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-Migliora la precisione quando il task è ambiguo.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  <p:sp>
        <p:nvSpPr>
          <p:cNvPr id="287" name="Google Shape;287;p2"/>
          <p:cNvSpPr txBox="1"/>
          <p:nvPr/>
        </p:nvSpPr>
        <p:spPr>
          <a:xfrm>
            <a:off x="5393250" y="217500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accent4"/>
                </a:solidFill>
                <a:latin typeface="Nunito"/>
                <a:ea typeface="Nunito"/>
                <a:cs typeface="Nunito"/>
                <a:sym typeface="Nunito"/>
              </a:rPr>
              <a:t>Il FEW-SHOT è preferibile quando serve controllo del formato e coerenza.</a:t>
            </a:r>
            <a:endParaRPr b="0" i="0" sz="1300" u="none" cap="none" strike="noStrike">
              <a:solidFill>
                <a:schemeClr val="accent4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accent4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accent4"/>
                </a:solidFill>
                <a:latin typeface="Nunito"/>
                <a:ea typeface="Nunito"/>
                <a:cs typeface="Nunito"/>
                <a:sym typeface="Nunito"/>
              </a:rPr>
              <a:t>lo ZERO-SHOT è sufficiente solo per task molto semplici.</a:t>
            </a:r>
            <a:endParaRPr b="0" i="0" sz="1300" u="none" cap="none" strike="noStrike">
              <a:solidFill>
                <a:schemeClr val="accent4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8" name="Google Shape;288;p2"/>
          <p:cNvSpPr txBox="1"/>
          <p:nvPr>
            <p:ph type="ctrTitle"/>
          </p:nvPr>
        </p:nvSpPr>
        <p:spPr>
          <a:xfrm>
            <a:off x="5427325" y="1653300"/>
            <a:ext cx="2971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540"/>
              <a:t>Conclusione</a:t>
            </a:r>
            <a:endParaRPr sz="254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" title="Screenshot 2026-05-21 1328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37775"/>
            <a:ext cx="3939500" cy="23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" title="Screenshot 2026-05-21 13314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1144575"/>
            <a:ext cx="4788400" cy="36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"/>
          <p:cNvSpPr txBox="1"/>
          <p:nvPr>
            <p:ph type="ctrTitle"/>
          </p:nvPr>
        </p:nvSpPr>
        <p:spPr>
          <a:xfrm>
            <a:off x="824000" y="663125"/>
            <a:ext cx="73428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940"/>
              <a:t>2. Quanti esempi servono?</a:t>
            </a:r>
            <a:endParaRPr sz="294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940"/>
              <a:t>(1-shot/3-shot/5-shot)</a:t>
            </a:r>
            <a:endParaRPr sz="2940"/>
          </a:p>
        </p:txBody>
      </p:sp>
      <p:sp>
        <p:nvSpPr>
          <p:cNvPr id="300" name="Google Shape;300;p4"/>
          <p:cNvSpPr txBox="1"/>
          <p:nvPr>
            <p:ph idx="1" type="subTitle"/>
          </p:nvPr>
        </p:nvSpPr>
        <p:spPr>
          <a:xfrm>
            <a:off x="824000" y="1653300"/>
            <a:ext cx="3900300" cy="28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1-Shot: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Il modello segue l’unico esempio, ma potrebbe generalizzare male.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C’è il rischio che il modello “copia” troppo lo stile dell’esempio.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3-Shot: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Miglior equilibrio tra qualità e lunghezza del prompt.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Risposte più affidabili e consistenti.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Ottimale per il Sentiment.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5-Shot: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Prompt più lungo senza reali benefici.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it"/>
              <a:t>Miglioramento minimo rispetto ai 3 esempi.</a:t>
            </a:r>
            <a:endParaRPr/>
          </a:p>
        </p:txBody>
      </p:sp>
      <p:sp>
        <p:nvSpPr>
          <p:cNvPr id="301" name="Google Shape;301;p4"/>
          <p:cNvSpPr txBox="1"/>
          <p:nvPr/>
        </p:nvSpPr>
        <p:spPr>
          <a:xfrm>
            <a:off x="5410200" y="274320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accent4"/>
                </a:solidFill>
                <a:latin typeface="Nunito"/>
                <a:ea typeface="Nunito"/>
                <a:cs typeface="Nunito"/>
                <a:sym typeface="Nunito"/>
              </a:rPr>
              <a:t>Per compiti semplici con il sentiment 3 esempi sono la soluzione ottimale.</a:t>
            </a:r>
            <a:endParaRPr b="0" i="0" sz="1300" u="none" cap="none" strike="noStrike">
              <a:solidFill>
                <a:schemeClr val="accent4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4"/>
          <p:cNvSpPr txBox="1"/>
          <p:nvPr>
            <p:ph type="ctrTitle"/>
          </p:nvPr>
        </p:nvSpPr>
        <p:spPr>
          <a:xfrm>
            <a:off x="5410200" y="2221500"/>
            <a:ext cx="2971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540"/>
              <a:t>Conclusione</a:t>
            </a:r>
            <a:endParaRPr sz="254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"/>
          <p:cNvSpPr txBox="1"/>
          <p:nvPr>
            <p:ph type="ctrTitle"/>
          </p:nvPr>
        </p:nvSpPr>
        <p:spPr>
          <a:xfrm>
            <a:off x="824000" y="663125"/>
            <a:ext cx="73293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540"/>
              <a:t>3. Chain-of-Thought (CoT) su problema matematico </a:t>
            </a:r>
            <a:r>
              <a:rPr lang="it" sz="1440"/>
              <a:t>(basato su esercizio 2)</a:t>
            </a:r>
            <a:endParaRPr sz="1440"/>
          </a:p>
        </p:txBody>
      </p:sp>
      <p:sp>
        <p:nvSpPr>
          <p:cNvPr id="308" name="Google Shape;308;p5"/>
          <p:cNvSpPr txBox="1"/>
          <p:nvPr>
            <p:ph idx="1" type="subTitle"/>
          </p:nvPr>
        </p:nvSpPr>
        <p:spPr>
          <a:xfrm>
            <a:off x="824000" y="1752600"/>
            <a:ext cx="37479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/>
              <a:t>Senza CoT: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risposta diretta ma imprecisa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il modello può saltare i passaggi o sbagliare i calcoli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/>
              <a:t>Con CoT: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Il modello esplicita i calcoli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Maggiore accuratezza e trasparenza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Facilita la verifica del ragionamento</a:t>
            </a:r>
            <a:endParaRPr/>
          </a:p>
        </p:txBody>
      </p:sp>
      <p:sp>
        <p:nvSpPr>
          <p:cNvPr id="309" name="Google Shape;309;p5"/>
          <p:cNvSpPr txBox="1"/>
          <p:nvPr/>
        </p:nvSpPr>
        <p:spPr>
          <a:xfrm>
            <a:off x="5410200" y="274320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accent4"/>
                </a:solidFill>
                <a:latin typeface="Nunito"/>
                <a:ea typeface="Nunito"/>
                <a:cs typeface="Nunito"/>
                <a:sym typeface="Nunito"/>
              </a:rPr>
              <a:t>Il CoT migliora significativamente i problemi matematici complessi</a:t>
            </a:r>
            <a:endParaRPr b="0" i="0" sz="1300" u="none" cap="none" strike="noStrike">
              <a:solidFill>
                <a:schemeClr val="accent4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5"/>
          <p:cNvSpPr txBox="1"/>
          <p:nvPr>
            <p:ph type="ctrTitle"/>
          </p:nvPr>
        </p:nvSpPr>
        <p:spPr>
          <a:xfrm>
            <a:off x="5410200" y="2221500"/>
            <a:ext cx="2971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540"/>
              <a:t>Conclusione</a:t>
            </a:r>
            <a:endParaRPr sz="254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/>
          <p:nvPr>
            <p:ph type="ctrTitle"/>
          </p:nvPr>
        </p:nvSpPr>
        <p:spPr>
          <a:xfrm>
            <a:off x="273325" y="140850"/>
            <a:ext cx="73293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540"/>
              <a:t>4. Chain-of-Thought (CoT) su problema logico </a:t>
            </a:r>
            <a:r>
              <a:rPr lang="it" sz="1440"/>
              <a:t>(basato su esercizio 4)</a:t>
            </a:r>
            <a:endParaRPr sz="1440"/>
          </a:p>
        </p:txBody>
      </p:sp>
      <p:sp>
        <p:nvSpPr>
          <p:cNvPr id="316" name="Google Shape;316;p6"/>
          <p:cNvSpPr txBox="1"/>
          <p:nvPr>
            <p:ph idx="1" type="subTitle"/>
          </p:nvPr>
        </p:nvSpPr>
        <p:spPr>
          <a:xfrm>
            <a:off x="273225" y="1218750"/>
            <a:ext cx="37479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/>
              <a:t>Senza CoT: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Risposte corrette ma poco motivate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Il modello può ignorare alcuni vincoli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/>
              <a:t>Con CoT: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Analisi più strutturata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Considera i vincoli uno per uno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t"/>
              <a:t>Migliora la qualità delle decisioni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 txBox="1"/>
          <p:nvPr/>
        </p:nvSpPr>
        <p:spPr>
          <a:xfrm>
            <a:off x="5418675" y="227430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accent4"/>
                </a:solidFill>
                <a:latin typeface="Nunito"/>
                <a:ea typeface="Nunito"/>
                <a:cs typeface="Nunito"/>
                <a:sym typeface="Nunito"/>
              </a:rPr>
              <a:t>Il CoT è utile anche nei problemi non matematici, perché forza il modello a ragionare.</a:t>
            </a:r>
            <a:endParaRPr b="0" i="0" sz="1300" u="none" cap="none" strike="noStrike">
              <a:solidFill>
                <a:schemeClr val="accent4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6"/>
          <p:cNvSpPr txBox="1"/>
          <p:nvPr>
            <p:ph type="ctrTitle"/>
          </p:nvPr>
        </p:nvSpPr>
        <p:spPr>
          <a:xfrm>
            <a:off x="4867900" y="1218750"/>
            <a:ext cx="2971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540"/>
              <a:t>Conclusione</a:t>
            </a:r>
            <a:endParaRPr sz="2540"/>
          </a:p>
        </p:txBody>
      </p:sp>
      <p:sp>
        <p:nvSpPr>
          <p:cNvPr id="319" name="Google Shape;319;p6"/>
          <p:cNvSpPr txBox="1"/>
          <p:nvPr/>
        </p:nvSpPr>
        <p:spPr>
          <a:xfrm>
            <a:off x="273225" y="3577650"/>
            <a:ext cx="8211000" cy="12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Abbiamo oltretutto scoperto due nuove metodologie di pensiero:</a:t>
            </a:r>
            <a:endParaRPr b="0" i="0" sz="13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- ReAct (Reasoning and Acting): che permette al modello di usare sempre la CoT, ma anche l’utilizzo di strumenti esterni</a:t>
            </a:r>
            <a:endParaRPr b="0" i="0" sz="13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- Tree of Thoughts (ToT): utilizza un approccio simile a quello umano, dove il modello esplora piú percorsi di ragionamento, e successivamente il modello sceglie le soluzioni piú vantaggiose</a:t>
            </a:r>
            <a:endParaRPr b="0" i="0" sz="13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"/>
          <p:cNvSpPr txBox="1"/>
          <p:nvPr>
            <p:ph type="ctrTitle"/>
          </p:nvPr>
        </p:nvSpPr>
        <p:spPr>
          <a:xfrm>
            <a:off x="838200" y="152400"/>
            <a:ext cx="73914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540"/>
              <a:t>5. Quando usare cosa (guida pratica)</a:t>
            </a:r>
            <a:endParaRPr sz="1440"/>
          </a:p>
        </p:txBody>
      </p:sp>
      <p:sp>
        <p:nvSpPr>
          <p:cNvPr id="325" name="Google Shape;325;p7"/>
          <p:cNvSpPr txBox="1"/>
          <p:nvPr>
            <p:ph idx="1" type="subTitle"/>
          </p:nvPr>
        </p:nvSpPr>
        <p:spPr>
          <a:xfrm>
            <a:off x="838200" y="1066800"/>
            <a:ext cx="74055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it"/>
              <a:t>ZERO-SHOT: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Task semplici e risposte rapide</a:t>
            </a:r>
            <a:endParaRPr/>
          </a:p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Alcune volte anche con problemi logici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it"/>
              <a:t>FEW-SHOT: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Task con ambiguità</a:t>
            </a:r>
            <a:endParaRPr/>
          </a:p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Serve coerenza nel formato</a:t>
            </a:r>
            <a:endParaRPr/>
          </a:p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3 esempi = miglior compromesso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it"/>
              <a:t>n.b.: Troppi esempi non migliorano le prestazioni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it"/>
              <a:t>Chain-of-Thought: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Problemi matematici</a:t>
            </a:r>
            <a:endParaRPr/>
          </a:p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Problemi logici complessi</a:t>
            </a:r>
            <a:endParaRPr/>
          </a:p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Per un ragionamento trasparente e passo passo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it"/>
              <a:t>n.b.: Non necessario per Task banali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